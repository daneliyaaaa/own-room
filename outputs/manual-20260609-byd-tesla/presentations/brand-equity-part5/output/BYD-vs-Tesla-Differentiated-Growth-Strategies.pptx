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36727c24224deb" /><Relationship Type="http://schemas.openxmlformats.org/officeDocument/2006/relationships/extended-properties" Target="/docProps/app.xml" Id="R54caa9def72649b4" /><Relationship Type="http://schemas.openxmlformats.org/officeDocument/2006/relationships/officeDocument" Target="/ppt/presentation.xml" Id="R42cae37d44024f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00d2c3e3634a26"/>
  </p:sldMasterIdLst>
  <p:notesMasterIdLst>
    <p:notesMasterId xmlns:r="http://schemas.openxmlformats.org/officeDocument/2006/relationships" r:id="R38b6f952349a44c1"/>
  </p:notesMasterIdLst>
  <p:sldIdLst>
    <p:sldId xmlns:r="http://schemas.openxmlformats.org/officeDocument/2006/relationships" id="256" r:id="R66c5d1df0f9c4554"/>
    <p:sldId xmlns:r="http://schemas.openxmlformats.org/officeDocument/2006/relationships" id="257" r:id="Rac4597cf68ea4f25"/>
    <p:sldId xmlns:r="http://schemas.openxmlformats.org/officeDocument/2006/relationships" id="258" r:id="Rdb71ab3a3bdd4ea8"/>
    <p:sldId xmlns:r="http://schemas.openxmlformats.org/officeDocument/2006/relationships" id="259" r:id="R15019564752c4c29"/>
    <p:sldId xmlns:r="http://schemas.openxmlformats.org/officeDocument/2006/relationships" id="260" r:id="Ra837d8872e3f458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54a5aa82464074" /><Relationship Type="http://schemas.openxmlformats.org/officeDocument/2006/relationships/slideMaster" Target="/ppt/slideMasters/slideMaster1.xml" Id="R9900d2c3e3634a26" /><Relationship Type="http://schemas.openxmlformats.org/officeDocument/2006/relationships/notesMaster" Target="/ppt/notesMasters/notesMaster1.xml" Id="R38b6f952349a44c1" /><Relationship Type="http://schemas.openxmlformats.org/officeDocument/2006/relationships/presProps" Target="/ppt/presProps.xml" Id="Ra901d6f5c0924fc1" /><Relationship Type="http://schemas.openxmlformats.org/officeDocument/2006/relationships/viewProps" Target="/ppt/viewProps.xml" Id="R66def9e5f9c34848" /><Relationship Type="http://schemas.openxmlformats.org/officeDocument/2006/relationships/tableStyles" Target="/ppt/tableStyles.xml" Id="R91cae185f5d1469a" /><Relationship Type="http://schemas.openxmlformats.org/officeDocument/2006/relationships/slide" Target="/ppt/slides/slide1.xml" Id="R66c5d1df0f9c4554" /><Relationship Type="http://schemas.openxmlformats.org/officeDocument/2006/relationships/slide" Target="/ppt/slides/slide2.xml" Id="Rac4597cf68ea4f25" /><Relationship Type="http://schemas.openxmlformats.org/officeDocument/2006/relationships/slide" Target="/ppt/slides/slide3.xml" Id="Rdb71ab3a3bdd4ea8" /><Relationship Type="http://schemas.openxmlformats.org/officeDocument/2006/relationships/slide" Target="/ppt/slides/slide4.xml" Id="R15019564752c4c29" /><Relationship Type="http://schemas.openxmlformats.org/officeDocument/2006/relationships/slide" Target="/ppt/slides/slide5.xml" Id="Ra837d8872e3f45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0508698cb742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ea03eb5d174040" /><Relationship Type="http://schemas.openxmlformats.org/officeDocument/2006/relationships/notesMaster" Target="/ppt/notesMasters/notesMaster1.xml" Id="Rac1a5a02266041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7fb8747a13452f" /><Relationship Type="http://schemas.openxmlformats.org/officeDocument/2006/relationships/notesMaster" Target="/ppt/notesMasters/notesMaster1.xml" Id="Rde2afdd6edc54a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c28465710b4b20" /><Relationship Type="http://schemas.openxmlformats.org/officeDocument/2006/relationships/notesMaster" Target="/ppt/notesMasters/notesMaster1.xml" Id="R640b8175fe4c4b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c13d2765e54395" /><Relationship Type="http://schemas.openxmlformats.org/officeDocument/2006/relationships/notesMaster" Target="/ppt/notesMasters/notesMaster1.xml" Id="R331f997eac744b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5e218728794bef" /><Relationship Type="http://schemas.openxmlformats.org/officeDocument/2006/relationships/notesMaster" Target="/ppt/notesMasters/notesMaster1.xml" Id="Ra473edbe79874d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d56559cf8046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73515f4d344ea8" /><Relationship Type="http://schemas.openxmlformats.org/officeDocument/2006/relationships/slideLayout" Target="/ppt/slideLayouts/slideLayout1.xml" Id="Rb86814884c7f4c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6814884c7f4c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1b0f0ebee40a8" /><Relationship Type="http://schemas.openxmlformats.org/officeDocument/2006/relationships/notesSlide" Target="/ppt/notesSlides/notesSlide1.xml" Id="Rc2cb614fee7449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6a308fadcd49af" /><Relationship Type="http://schemas.openxmlformats.org/officeDocument/2006/relationships/notesSlide" Target="/ppt/notesSlides/notesSlide2.xml" Id="R2b94b12906d043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c6b8aef694163" /><Relationship Type="http://schemas.openxmlformats.org/officeDocument/2006/relationships/notesSlide" Target="/ppt/notesSlides/notesSlide3.xml" Id="Rd6b34736af234e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68a662c29d4f7d" /><Relationship Type="http://schemas.openxmlformats.org/officeDocument/2006/relationships/notesSlide" Target="/ppt/notesSlides/notesSlide4.xml" Id="Rded89237e2b749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586ed0bc74c37" /><Relationship Type="http://schemas.openxmlformats.org/officeDocument/2006/relationships/notesSlide" Target="/ppt/notesSlides/notesSlide5.xml" Id="R4bfa53ed479d4d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2626F6D-1DC4-441B-9372-521C3913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"/>
            <a:ext cx="1104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7A0B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7A0B0"/>
                </a:solidFill>
                <a:latin typeface="Aptos"/>
                <a:ea typeface="Aptos"/>
                <a:cs typeface="Aptos"/>
              </a:rPr>
              <a:t>DIFFERENTIATED GROWTH STRATEGY</a:t>
            </a:r>
          </a:p>
        </p:txBody>
      </p:sp>
      <p:sp>
        <p:nvSpPr>
          <p:cNvPr id="2" name="section-marker">
            <a:extLst xmlns:a="http://schemas.openxmlformats.org/drawingml/2006/main">
              <a:ext uri="{FF2B5EF4-FFF2-40B4-BE49-F238E27FC236}">
                <a16:creationId xmlns:a16="http://schemas.microsoft.com/office/drawing/2014/main" id="{CD93F006-B036-4924-8D11-B321255A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3400"/>
            <a:ext cx="4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400150-9B9D-4344-94DD-5EEB02B3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66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The same market requires two opposite brand-growth mandates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5541ED-C9B4-4C34-AD39-B9AB529E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10287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Tesla must extend premium equity; BYD must upgrade and concentrate brand meaning.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02F595-F8ED-417F-8029-11A83AB1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AA3B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AA3B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AEBA54-3781-4263-A144-9CE9EC98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5429250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C4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A7A579-96F5-4FC1-AA2A-84A79FE7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81125"/>
            <a:ext cx="5429250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F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2ACFB5-53DA-46E8-9798-2208BEDC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10477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BE9E7"/>
          </a:solidFill>
          <a:ln xmlns:a="http://schemas.openxmlformats.org/drawingml/2006/main" w="0">
            <a:solidFill>
              <a:srgbClr val="FBE9E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31490D-E5E0-47B0-9B26-424F70B5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8953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3A3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3A34"/>
                </a:solidFill>
                <a:latin typeface="Aptos"/>
                <a:ea typeface="Aptos"/>
                <a:cs typeface="Aptos"/>
              </a:rPr>
              <a:t>TESLA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78423-9D16-424C-9B37-07B1B075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43050"/>
            <a:ext cx="8572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EAF0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9697FC-0569-46FC-A8F3-E97C168A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71625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3D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3D8"/>
                </a:solidFill>
                <a:latin typeface="Aptos"/>
                <a:ea typeface="Aptos"/>
                <a:cs typeface="Aptos"/>
              </a:rPr>
              <a:t>BYD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ECAF3E-28F3-4318-BD42-9C39CB8F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240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83A3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83A34"/>
                </a:solidFill>
                <a:latin typeface="Aptos"/>
                <a:ea typeface="Aptos"/>
                <a:cs typeface="Aptos"/>
              </a:rPr>
              <a:t>EXTEND PREMIUM BRAND EQUITY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27200E-1733-4D32-92C7-B85934CF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63D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F63D8"/>
                </a:solidFill>
                <a:latin typeface="Aptos"/>
                <a:ea typeface="Aptos"/>
                <a:cs typeface="Aptos"/>
              </a:rPr>
              <a:t>UPGRADE &amp; CONCENTRATE BRAND EQUITY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7C58CC-30FD-484F-829E-34EF25BC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24100"/>
            <a:ext cx="4953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F0C4C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7334F8-BCB2-48C6-8CD5-BE758481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24100"/>
            <a:ext cx="4953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9D6F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C5A77C-3044-432B-A9A2-E88A48E1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2333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EXISTING BRAND ASSETS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3A17F7-06FC-43CF-8268-2EAE799E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2333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• Premium technology imagery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• Emotional excitement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• Strong owner identity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• Pricing power and advocacy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C08CDC-337C-4798-9179-6321F4B5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476500"/>
            <a:ext cx="2333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GROWTH CONSTRAINTS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C959EA-0292-4281-8691-1171D34E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762250"/>
            <a:ext cx="2333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• Service and ownership friction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• Narrow product portfolio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• Limited usage occasions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• Reputation concentration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7EB6EC-F561-4CB2-9F4B-618DD37D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2333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EXISTING BRAND ASSETS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C7BBB4-2AFE-410C-9333-7EB10313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2333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• Broad salience and scale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• Product and cost performance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• Vertical integration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• Strong price-value credibility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D721A7-D64D-4597-8A8E-8B596F7A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76500"/>
            <a:ext cx="2333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GROWTH CONSTRAINTS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A96740-C301-4E9B-BF87-A4083489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62250"/>
            <a:ext cx="2333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• Fragmented architecture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• Value-for-money stereotype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• Weak global resonance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• Less distinctive intelligence cues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E01099-76AD-4860-ADAE-6EAB65CC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49530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BE9E7"/>
          </a:solidFill>
          <a:ln xmlns:a="http://schemas.openxmlformats.org/drawingml/2006/main" w="9525">
            <a:solidFill>
              <a:srgbClr val="F0C4C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B871AB-1334-4F87-8DAA-27C165CF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49530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C9D6F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E4B4AB-FE7B-4DB8-B1B2-6C9919D9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457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3A3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3A34"/>
                </a:solidFill>
                <a:latin typeface="Aptos"/>
                <a:ea typeface="Aptos"/>
                <a:cs typeface="Aptos"/>
              </a:rPr>
              <a:t>STRATEGIC JOB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2B6728-A57E-442D-B736-0263C7CF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457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Broaden users, cities, use cases and revenue streams without making the technology promise ordinary.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EED4C7-E93F-4CAD-8E5D-8E91F2C6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71950"/>
            <a:ext cx="457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3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3D8"/>
                </a:solidFill>
                <a:latin typeface="Aptos"/>
                <a:ea typeface="Aptos"/>
                <a:cs typeface="Aptos"/>
              </a:rPr>
              <a:t>STRATEGIC JOB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5EC765-6CD1-45AD-B2AE-DDBE5530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57700"/>
            <a:ext cx="457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Turn manufacturing scale into coherent premium, intelligent and globally resonant brand meaning.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261A33-174C-435A-9881-51DB1360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962650"/>
            <a:ext cx="7429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73247"/>
          </a:solidFill>
          <a:ln xmlns:a="http://schemas.openxmlformats.org/drawingml/2006/main" w="9525">
            <a:solidFill>
              <a:srgbClr val="27324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C83875-48EB-4618-82AB-051C8ED1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057900"/>
            <a:ext cx="704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RULE  Strengthen one weak CBBE layer without damaging the brand's strongest association.</a:t>
            </a:r>
          </a:p>
        </p:txBody>
      </p:sp>
    </p:spTree>
    <p:extLst>
      <p:ext uri="{BB962C8B-B14F-4D97-AF65-F5344CB8AC3E}">
        <p14:creationId xmlns:p14="http://schemas.microsoft.com/office/powerpoint/2010/main" val="15760965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9CE07B6-49CB-4D0B-B72E-F7A2E189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"/>
            <a:ext cx="1104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7A0B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7A0B0"/>
                </a:solidFill>
                <a:latin typeface="Aptos"/>
                <a:ea typeface="Aptos"/>
                <a:cs typeface="Aptos"/>
              </a:rPr>
              <a:t>ANSOFF GROWTH PORTFOLIO</a:t>
            </a:r>
          </a:p>
        </p:txBody>
      </p:sp>
      <p:sp>
        <p:nvSpPr>
          <p:cNvPr id="2" name="section-marker">
            <a:extLst xmlns:a="http://schemas.openxmlformats.org/drawingml/2006/main">
              <a:ext uri="{FF2B5EF4-FFF2-40B4-BE49-F238E27FC236}">
                <a16:creationId xmlns:a16="http://schemas.microsoft.com/office/drawing/2014/main" id="{D78CF068-4873-43C1-8910-FC20BECE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3400"/>
            <a:ext cx="4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7E84A4-FB7B-4DB4-9A38-B8B87403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66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Repair the core before expanding into adjacent growth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D08694-386F-4640-8A0D-FCA882CF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10287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Sequencing protects brand consistency and prevents premature diversification.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02E9C8-B89F-4D9E-A7FF-A54BFD6C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AA3B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AA3B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24E077-983C-4120-87DB-07D3EF0A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MARKETS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CA0F34-9114-4675-A71C-0673CC91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24000"/>
            <a:ext cx="3143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EXISTING PRODUCTS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FF8D54-F6D3-4BFE-9952-C61B11CC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524000"/>
            <a:ext cx="3143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NEW PRODUCTS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C04361-3872-43B9-808F-BDC3221C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57500"/>
            <a:ext cx="400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EXISTING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9D18BE-D5FE-46BC-817B-2BC6B10B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57750"/>
            <a:ext cx="400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NEW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D8B922-C913-49CF-AA12-78F93559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095500"/>
            <a:ext cx="3810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F9AFB7-C339-42C7-9CC5-F62FC8E0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247900"/>
            <a:ext cx="2333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MARKET PENETRATION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774E36-C653-44E4-AB05-BEE346A1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209800"/>
            <a:ext cx="118110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DF0F5"/>
          </a:solidFill>
          <a:ln xmlns:a="http://schemas.openxmlformats.org/drawingml/2006/main" w="0">
            <a:solidFill>
              <a:srgbClr val="EDF0F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11DB4C-9E47-4B16-B983-5D3FC2E1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238375"/>
            <a:ext cx="10287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7324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73247"/>
                </a:solidFill>
                <a:latin typeface="Aptos"/>
                <a:ea typeface="Aptos"/>
                <a:cs typeface="Aptos"/>
              </a:rPr>
              <a:t>PRIORITY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328849-FF57-4D4A-BDA6-D97479C7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552700"/>
            <a:ext cx="34671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7F3C82-ECEE-4269-858F-F661A3DD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676525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3A3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3A34"/>
                </a:solidFill>
                <a:latin typeface="Aptos"/>
                <a:ea typeface="Aptos"/>
                <a:cs typeface="Aptos"/>
              </a:rPr>
              <a:t>TESLA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34C05F-B5C4-451D-8190-98997F09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657475"/>
            <a:ext cx="2762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Repair ownership friction:</a:t>
            </a:r>
          </a:p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service standards, repair visibility, customer care.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C77210-0C40-429B-B72B-DFD04523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2194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3D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3D8"/>
                </a:solidFill>
                <a:latin typeface="Aptos"/>
                <a:ea typeface="Aptos"/>
                <a:cs typeface="Aptos"/>
              </a:rPr>
              <a:t>BYD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6339C6-3D98-44F8-A2E7-FBC2F95F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200400"/>
            <a:ext cx="2762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Clarify Dynasty/Ocean roles and reduce portfolio overlap.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2F4724-2DB2-452C-8E68-377C55D2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3810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3F6D36-87AD-4471-8BA8-64F99010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47900"/>
            <a:ext cx="2333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MARKET DEVELOPMENT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7F6EBC-F4DA-4502-9052-40548364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09800"/>
            <a:ext cx="118110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DF0F5"/>
          </a:solidFill>
          <a:ln xmlns:a="http://schemas.openxmlformats.org/drawingml/2006/main" w="0">
            <a:solidFill>
              <a:srgbClr val="EDF0F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D78CF5-AC58-4D1F-8799-7FB618B8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38375"/>
            <a:ext cx="10287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7324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73247"/>
                </a:solidFill>
                <a:latin typeface="Aptos"/>
                <a:ea typeface="Aptos"/>
                <a:cs typeface="Aptos"/>
              </a:rPr>
              <a:t>PRIORITY 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664FFB-2FBF-4340-935D-A8A6294D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52700"/>
            <a:ext cx="34671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969161-B89E-4C85-A25F-F2D3BB49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76525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3A3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3A34"/>
                </a:solidFill>
                <a:latin typeface="Aptos"/>
                <a:ea typeface="Aptos"/>
                <a:cs typeface="Aptos"/>
              </a:rPr>
              <a:t>TESLA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57F40D-C921-47F6-9AA8-EC51BDF5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57475"/>
            <a:ext cx="2762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Selective access:</a:t>
            </a:r>
          </a:p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lower-tier cities and an accessible price band.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2693F1-FED6-400C-973B-A2D658B1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194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3D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3D8"/>
                </a:solidFill>
                <a:latin typeface="Aptos"/>
                <a:ea typeface="Aptos"/>
                <a:cs typeface="Aptos"/>
              </a:rPr>
              <a:t>BYD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A805E7-54DB-4CE8-AA21-6198B786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00400"/>
            <a:ext cx="2762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Localized overseas communication, retail, service and trust.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75C456-C2C2-44B5-AAEE-3A0A541C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095750"/>
            <a:ext cx="3810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81BE9D-1AA7-478C-BF6E-7E966043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248150"/>
            <a:ext cx="2333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PRODUCT DEVELOPMENT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8F4CF5-158E-43CC-B75F-077A0F64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210050"/>
            <a:ext cx="118110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DF0F5"/>
          </a:solidFill>
          <a:ln xmlns:a="http://schemas.openxmlformats.org/drawingml/2006/main" w="0">
            <a:solidFill>
              <a:srgbClr val="EDF0F5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B8FD9C-A5E4-44FD-9FED-5BE51529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4238625"/>
            <a:ext cx="10287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7324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73247"/>
                </a:solidFill>
                <a:latin typeface="Aptos"/>
                <a:ea typeface="Aptos"/>
                <a:cs typeface="Aptos"/>
              </a:rPr>
              <a:t>PRIORITY 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FB5EB2-0958-4CAA-B23E-EC27808B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552950"/>
            <a:ext cx="34671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4B59DC-D06C-447F-AE68-547E7C0C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676775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3A3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3A34"/>
                </a:solidFill>
                <a:latin typeface="Aptos"/>
                <a:ea typeface="Aptos"/>
                <a:cs typeface="Aptos"/>
              </a:rPr>
              <a:t>TESLA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C5428F-9372-49EE-805C-654962EB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657725"/>
            <a:ext cx="2762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Compact, MPV and utility formats plus software bundles.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FF0B68-72B2-4DD0-81A0-B50F0445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52197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3D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3D8"/>
                </a:solidFill>
                <a:latin typeface="Aptos"/>
                <a:ea typeface="Aptos"/>
                <a:cs typeface="Aptos"/>
              </a:rPr>
              <a:t>BYD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EBB38B-1D6A-4F5E-A083-1478CED0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200650"/>
            <a:ext cx="2762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Intelligent driving, cockpit, OTA and premium-design consistency.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790B8F-AF40-4BF0-B596-BFA20EE9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95750"/>
            <a:ext cx="3810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325C00-D15F-4790-86DF-15D2B07F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48150"/>
            <a:ext cx="2333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SELECTIVE DIVERSIFICATION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B871CF-39D0-4E19-B05D-1AFE8453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10050"/>
            <a:ext cx="118110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DF0F5"/>
          </a:solidFill>
          <a:ln xmlns:a="http://schemas.openxmlformats.org/drawingml/2006/main" w="0">
            <a:solidFill>
              <a:srgbClr val="EDF0F5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9B4132-4072-4CEC-A935-9DBCC2B3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238625"/>
            <a:ext cx="10287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7324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73247"/>
                </a:solidFill>
                <a:latin typeface="Aptos"/>
                <a:ea typeface="Aptos"/>
                <a:cs typeface="Aptos"/>
              </a:rPr>
              <a:t>CONTROLLED BET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EA9785-819E-487C-A6BA-BEB9F9BA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52950"/>
            <a:ext cx="34671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6F7AC9-E11B-4C5E-9A99-73E009A1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76775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3A3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3A34"/>
                </a:solidFill>
                <a:latin typeface="Aptos"/>
                <a:ea typeface="Aptos"/>
                <a:cs typeface="Aptos"/>
              </a:rPr>
              <a:t>TESLA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CB1C908-CCE5-42BF-8A7D-EAF2E8C6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57725"/>
            <a:ext cx="2762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License selected FSD modules as an industry platform.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76DCCF5-A0D6-41B8-9B73-CE67E9AC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2197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3D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3D8"/>
                </a:solidFill>
                <a:latin typeface="Aptos"/>
                <a:ea typeface="Aptos"/>
                <a:cs typeface="Aptos"/>
              </a:rPr>
              <a:t>BYD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887B134-0944-41C0-9FFC-3F2B5DC0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200650"/>
            <a:ext cx="2762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Connect mobility, batteries, storage and energy solutions.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6F34E5F-94A1-4D4D-895F-EA238A60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0"/>
            <a:ext cx="2095500" cy="3714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273247"/>
          </a:solidFill>
          <a:ln xmlns:a="http://schemas.openxmlformats.org/drawingml/2006/main" w="9525">
            <a:solidFill>
              <a:srgbClr val="27324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7CEBFC2-495C-4CEB-BBF9-B484F164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33625"/>
            <a:ext cx="1676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SEQUENCING LOGIC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CE269AB-F57F-4565-AAC0-383BD0EE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3A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2E5FE18-5EA2-4FDA-AD73-1CBBBA67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C03EDCD-E363-402A-A2CC-EE699129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38450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Repair current-market friction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D4E4EC3-8EF2-4CEE-8187-969F7C23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190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EB7C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7C7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3B77CE9-B10F-4548-887C-67F5EEFC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791F4A0-3D8A-4A42-A7F2-D2A70856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11C2800-5FB9-4FF6-AA71-76ED8B8F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95700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Expand into adjacent customers and use cases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E043496-1FC3-47DE-9169-D95EB068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190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EB7C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7C7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232D91B-3B27-48AD-B5A9-1706BC75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86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44B2134-C8AF-42A1-98D4-FDD02A73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63C3510-F563-4FB5-8685-CE614A22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Diversify only when brand fit is explicit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B8E901F-2512-4D6C-8DB8-B5A03076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81625"/>
            <a:ext cx="1752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8DE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DEEA"/>
                </a:solidFill>
                <a:latin typeface="Aptos"/>
                <a:ea typeface="Aptos"/>
                <a:cs typeface="Aptos"/>
              </a:rPr>
              <a:t>Core repair precedes reach.</a:t>
            </a:r>
          </a:p>
        </p:txBody>
      </p:sp>
    </p:spTree>
    <p:extLst>
      <p:ext uri="{BB962C8B-B14F-4D97-AF65-F5344CB8AC3E}">
        <p14:creationId xmlns:p14="http://schemas.microsoft.com/office/powerpoint/2010/main" val="19690881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1FEA9F1-6EBF-4537-BF25-667FFE41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"/>
            <a:ext cx="1104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7A0B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7A0B0"/>
                </a:solidFill>
                <a:latin typeface="Aptos"/>
                <a:ea typeface="Aptos"/>
                <a:cs typeface="Aptos"/>
              </a:rPr>
              <a:t>TESLA GROWTH BLUEPRINT</a:t>
            </a:r>
          </a:p>
        </p:txBody>
      </p:sp>
      <p:sp>
        <p:nvSpPr>
          <p:cNvPr id="2" name="section-marker">
            <a:extLst xmlns:a="http://schemas.openxmlformats.org/drawingml/2006/main">
              <a:ext uri="{FF2B5EF4-FFF2-40B4-BE49-F238E27FC236}">
                <a16:creationId xmlns:a16="http://schemas.microsoft.com/office/drawing/2014/main" id="{A4010760-2F51-4C11-B2D9-C2DABD9E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3400"/>
            <a:ext cx="4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186F5C-4312-4C1F-B2A0-810F31F6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66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Broaden access without making the brand ordinary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F80D15-8853-4D2A-BE8E-66BD14E9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10287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Three execution pillars translate premium equity into scalable growth.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CCD100-DA3E-411F-8ECD-C7346E6D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AA3B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AA3B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6EB743-8C81-4424-B8D2-E5B64710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76375"/>
            <a:ext cx="3619500" cy="4619625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C4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F5857-949F-4F85-ABD2-678380FC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83A34"/>
          </a:solidFill>
          <a:ln xmlns:a="http://schemas.openxmlformats.org/drawingml/2006/main" w="0">
            <a:solidFill>
              <a:srgbClr val="D83A3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0A8CEE-7A68-4139-8B9D-E345C60B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32CA4D-5D4E-4E33-81E6-7D470716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47825"/>
            <a:ext cx="26670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OWNERSHIP FLYWHEEL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567C61-0028-4E40-8A2D-DC1EC5E8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43100"/>
            <a:ext cx="16954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BE9E7"/>
          </a:solidFill>
          <a:ln xmlns:a="http://schemas.openxmlformats.org/drawingml/2006/main" w="0">
            <a:solidFill>
              <a:srgbClr val="FBE9E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3AD8E4-BE61-4AC8-B40B-D07DDBF5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71675"/>
            <a:ext cx="1543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3A3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3A34"/>
                </a:solidFill>
                <a:latin typeface="Aptos"/>
                <a:ea typeface="Aptos"/>
                <a:cs typeface="Aptos"/>
              </a:rPr>
              <a:t>MARKET PENETRATION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A0C350-73E3-44BA-86A8-4D595185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3276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F0C4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0F0FA4-EAB1-4136-A9E8-562FCEC7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574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3A3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3A34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E6782E-5745-4262-A55B-5F82C030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0"/>
            <a:ext cx="3276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Service-level standards, real-time repair visibility and proactive customer care.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481C2C-80AE-4380-A26A-E5C9D171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528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3A3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3A34"/>
                </a:solidFill>
                <a:latin typeface="Aptos"/>
                <a:ea typeface="Aptos"/>
                <a:cs typeface="Aptos"/>
              </a:rPr>
              <a:t>BRAND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C43547-CA1B-4571-B723-DAF58228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3276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Product satisfaction → trust → attachment → advocacy.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90FDE4-46F0-43CC-BFEB-EE90D5CE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0050"/>
            <a:ext cx="15621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D64415-419E-4C2A-8AC4-D75033E2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10050"/>
            <a:ext cx="15621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BE9E7"/>
          </a:solidFill>
          <a:ln xmlns:a="http://schemas.openxmlformats.org/drawingml/2006/main" w="9525">
            <a:solidFill>
              <a:srgbClr val="F0C4C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2D288F-82F1-4540-8906-DF9ED9A9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KPIs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4F9763-EADE-4C7B-A622-99BC33E7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1333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Service NPS</a:t>
            </a:r>
          </a:p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Repair cycle time</a:t>
            </a:r>
          </a:p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Referral rate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39FBB-0CCA-4EEF-AB76-9E35C4C7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243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3A3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3A34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206B66-5A82-4AA1-8F7C-A7017C07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529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Margin pressure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25E68B-A7AD-41FB-A183-CA4C8926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006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Target high-friction moments; use digital triage.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39DAA1-75C9-450D-857A-CCA3DA2C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10200"/>
            <a:ext cx="3276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SUCCESS TEST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C592DD-D3B6-473E-BD51-486FFEA2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3276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Higher advocacy, not only fewer complaints.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2F6F24-5BE2-43C7-AF09-CE98971A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476375"/>
            <a:ext cx="3619500" cy="4619625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C4C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8B1045-EF8C-496B-A1EC-BC5DACD5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6573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83A34"/>
          </a:solidFill>
          <a:ln xmlns:a="http://schemas.openxmlformats.org/drawingml/2006/main" w="0">
            <a:solidFill>
              <a:srgbClr val="D83A3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43EF6F-8670-4000-A0DC-489F561C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7526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F937A3-2CF3-406F-9BE1-998096B6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647825"/>
            <a:ext cx="26670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SELECTIVE ACCESS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2CCEB7-4AE0-4B16-A8CA-6A5A992C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43100"/>
            <a:ext cx="16954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BE9E7"/>
          </a:solidFill>
          <a:ln xmlns:a="http://schemas.openxmlformats.org/drawingml/2006/main" w="0">
            <a:solidFill>
              <a:srgbClr val="FBE9E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344C69-DF3B-4567-A6C5-37D071D3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971675"/>
            <a:ext cx="1543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3A3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3A34"/>
                </a:solidFill>
                <a:latin typeface="Aptos"/>
                <a:ea typeface="Aptos"/>
                <a:cs typeface="Aptos"/>
              </a:rPr>
              <a:t>MARKET DEVELOPMENT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99286F-7BD8-40B6-BD43-2EA59CAA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305050"/>
            <a:ext cx="3276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F0C4C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3CB738-F233-4BBF-8EFA-D21C99B1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4574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3A3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3A34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34D400-8D17-4BF4-A15D-B53E9EC8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667000"/>
            <a:ext cx="3276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Accessible model or trim plus deeper lower-tier-city coverage.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13F11F-FEA4-44CB-ACE7-81809C95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3528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3A3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3A34"/>
                </a:solidFill>
                <a:latin typeface="Aptos"/>
                <a:ea typeface="Aptos"/>
                <a:cs typeface="Aptos"/>
              </a:rPr>
              <a:t>BRAND MECHANISM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5C981F-17B8-4FE5-A90F-D8939F7F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562350"/>
            <a:ext cx="3276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Broader salience without surrendering technology leadership.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C1F6DD-4C15-4CD8-B8F5-7081D131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210050"/>
            <a:ext cx="15621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CCCD47-9D9E-400B-97A7-3BB27327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210050"/>
            <a:ext cx="15621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BE9E7"/>
          </a:solidFill>
          <a:ln xmlns:a="http://schemas.openxmlformats.org/drawingml/2006/main" w="9525">
            <a:solidFill>
              <a:srgbClr val="F0C4C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71D0B1-D9BC-4AD4-A501-E6A9E7DE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3243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KPIs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7DCBB8-4270-4484-9A79-DAEE8DB4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552950"/>
            <a:ext cx="1333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New-to-brand buyers</a:t>
            </a:r>
          </a:p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City consideration</a:t>
            </a:r>
          </a:p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Premium perception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6BF3D89-6FC8-4A25-A70A-830AF0C3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243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3A3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3A34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6F76D21-63D1-4268-B2E1-33F3D09D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5529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Prestige dilution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1231C55-BB95-4DF5-8FC1-F134D010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006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Cost-down through platform efficiency, not de-contenting.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842FEC9-6197-4F10-B392-73AE1AEB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410200"/>
            <a:ext cx="3276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SUCCESS TEST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B76924A-4409-49D9-B632-8A72DB88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619750"/>
            <a:ext cx="3276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More buyers with stable premium perception.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ADAAD07-B22A-4DA5-B350-924BF83F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76375"/>
            <a:ext cx="3619500" cy="4619625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C4C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DCB56F1-3944-4B90-A1CD-B399567E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573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83A34"/>
          </a:solidFill>
          <a:ln xmlns:a="http://schemas.openxmlformats.org/drawingml/2006/main" w="0">
            <a:solidFill>
              <a:srgbClr val="D83A34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1E0F990-04EC-49E7-865A-E1634707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526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23FA153-2BB6-4A32-8519-EBBCE505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47825"/>
            <a:ext cx="26670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USE-CASE EXPANSION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92986BB-69E3-4041-BC34-9E7F246C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43100"/>
            <a:ext cx="16954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BE9E7"/>
          </a:solidFill>
          <a:ln xmlns:a="http://schemas.openxmlformats.org/drawingml/2006/main" w="0">
            <a:solidFill>
              <a:srgbClr val="FBE9E7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30C0F2C-BCB2-49D4-BA07-79341F1E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71675"/>
            <a:ext cx="1543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3A3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3A34"/>
                </a:solidFill>
                <a:latin typeface="Aptos"/>
                <a:ea typeface="Aptos"/>
                <a:cs typeface="Aptos"/>
              </a:rPr>
              <a:t>PRODUCT DEVELOPMENT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6CD988E-571A-41E0-8F2D-B9CE10C1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05050"/>
            <a:ext cx="3276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F0C4C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7A869D0-E414-4033-8285-2A5AEA23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574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3A3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3A34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6C47914-3242-4CB6-B866-45707E13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67000"/>
            <a:ext cx="3276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Compact, MPV and utility formats plus software/service bundles.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743715C-B22C-4F47-8B94-620E72A0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528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3A3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3A34"/>
                </a:solidFill>
                <a:latin typeface="Aptos"/>
                <a:ea typeface="Aptos"/>
                <a:cs typeface="Aptos"/>
              </a:rPr>
              <a:t>BRAND MECHANISM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116A318-6EE4-4047-B190-DDA3C5D3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62350"/>
            <a:ext cx="3276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More purchase occasions and higher customer lifetime value.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9DFAAE0-1025-4967-93A1-C71D99F9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10050"/>
            <a:ext cx="15621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E1529B1-11D3-44FA-986F-E376CCB0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210050"/>
            <a:ext cx="15621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BE9E7"/>
          </a:solidFill>
          <a:ln xmlns:a="http://schemas.openxmlformats.org/drawingml/2006/main" w="9525">
            <a:solidFill>
              <a:srgbClr val="F0C4C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65CA6F7-77E2-4FC8-960C-1824C59E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243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KPIs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D6341A8-3179-47A5-81C0-6791D652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52950"/>
            <a:ext cx="1333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Portfolio mix</a:t>
            </a:r>
          </a:p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Software attach rate</a:t>
            </a:r>
          </a:p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Repeat purchase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3EBACF6-B882-49E6-8AD9-56901101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243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3A3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3A34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0C07E34-3BF9-449C-8B87-97B9104A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529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Complexity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20A55EA-01FB-49EF-AF89-A0DE0B4D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006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Shared platforms and one consistent design language.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78C4124-5970-449B-97E5-9AAFD4B7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410200"/>
            <a:ext cx="3276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SUCCESS TEST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EB71365-D328-4E9F-8D7F-F880F948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619750"/>
            <a:ext cx="3276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More occasions without weaker simplicity.</a:t>
            </a:r>
          </a:p>
        </p:txBody>
      </p:sp>
    </p:spTree>
    <p:extLst>
      <p:ext uri="{BB962C8B-B14F-4D97-AF65-F5344CB8AC3E}">
        <p14:creationId xmlns:p14="http://schemas.microsoft.com/office/powerpoint/2010/main" val="5346538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63A57A0-1819-4DA8-AE64-45A258B4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"/>
            <a:ext cx="1104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7A0B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7A0B0"/>
                </a:solidFill>
                <a:latin typeface="Aptos"/>
                <a:ea typeface="Aptos"/>
                <a:cs typeface="Aptos"/>
              </a:rPr>
              <a:t>BYD GROWTH BLUEPRINT</a:t>
            </a:r>
          </a:p>
        </p:txBody>
      </p:sp>
      <p:sp>
        <p:nvSpPr>
          <p:cNvPr id="2" name="section-marker">
            <a:extLst xmlns:a="http://schemas.openxmlformats.org/drawingml/2006/main">
              <a:ext uri="{FF2B5EF4-FFF2-40B4-BE49-F238E27FC236}">
                <a16:creationId xmlns:a16="http://schemas.microsoft.com/office/drawing/2014/main" id="{49E23939-85BE-4CC8-AB06-84AF4D4F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3400"/>
            <a:ext cx="4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49FF8-E582-4E26-8316-D349D9E0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66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Sequence brand upgrading before adding further complexity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2270B0-DD07-46B7-AF25-D92EE899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10287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The roadmap converts industrial strength into premium and globally resonant equity.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CE751B-48BD-40B0-B4ED-86DEF665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AA3B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AA3B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CE95B9-E177-488B-890D-CAE9C6CC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38350"/>
            <a:ext cx="98583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B7C5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88F061-0BBD-4C03-AC4A-B0139364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09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8FE8"/>
          </a:solidFill>
          <a:ln xmlns:a="http://schemas.openxmlformats.org/drawingml/2006/main" w="38100">
            <a:solidFill>
              <a:srgbClr val="FFFF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1B8893-1EA6-4D46-8EAF-8CE83613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33625"/>
            <a:ext cx="3619500" cy="3648075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74654E-E0F7-4356-891A-EF8E36B5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05075"/>
            <a:ext cx="8953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EAF0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A528BD-C102-4515-97F2-891177BD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7429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D8FE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D8FE8"/>
                </a:solidFill>
                <a:latin typeface="Aptos"/>
                <a:ea typeface="Aptos"/>
                <a:cs typeface="Aptos"/>
              </a:rPr>
              <a:t>1–2 YEARS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3B837C-319D-49ED-8FCA-EBB81984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D8FE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D8FE8"/>
                </a:solidFill>
                <a:latin typeface="Aptos"/>
                <a:ea typeface="Aptos"/>
                <a:cs typeface="Aptos"/>
              </a:rPr>
              <a:t>SIMPLIFY &amp; SIGNAL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493CEF-EDFD-4D4B-A9DF-9CC643AA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3276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9D6F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9C2EBE-4F9B-4DAE-B1EC-F6C2EC12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909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3D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3D8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ABBCA0-ED75-4518-AD1E-127A26AB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3276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Clarify Dynasty/Ocean roles; define Denza, Fangchengbao and Yangwang ladders; make intelligent technology visible.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DB89B9-4041-463D-94B3-B9B9EF56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529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3D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3D8"/>
                </a:solidFill>
                <a:latin typeface="Aptos"/>
                <a:ea typeface="Aptos"/>
                <a:cs typeface="Aptos"/>
              </a:rPr>
              <a:t>BRAND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6DE536-E720-47C8-9578-4B979F6E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72025"/>
            <a:ext cx="3276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Reduce confusion and upgrade imagery and judgments.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4A17C5-7E1D-49E3-AEDF-F72C0B79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32766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930699-D1D8-43ED-9938-FC38C53C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864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KPIs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CDEEE2-E4DA-4E04-8FE7-1B15AF79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76875"/>
            <a:ext cx="25717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Brand confusion  |  Premium consideration  |  Tech association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82F9AF-70D6-41AC-BBC2-FCB1A6F5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809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5E3"/>
          </a:solidFill>
          <a:ln xmlns:a="http://schemas.openxmlformats.org/drawingml/2006/main" w="38100">
            <a:solidFill>
              <a:srgbClr val="FFFF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87A948-D695-438E-A7A9-EDABD13A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33625"/>
            <a:ext cx="3619500" cy="3648075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F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8C6589-A352-478A-B309-FCC97A00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505075"/>
            <a:ext cx="8953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EAF0F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B39227-FC26-4213-B446-293C382F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533650"/>
            <a:ext cx="7429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775E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75E3"/>
                </a:solidFill>
                <a:latin typeface="Aptos"/>
                <a:ea typeface="Aptos"/>
                <a:cs typeface="Aptos"/>
              </a:rPr>
              <a:t>3–5 YEARS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99FD2C-56D8-4DD2-A086-3B062FB2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8575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775E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775E3"/>
                </a:solidFill>
                <a:latin typeface="Aptos"/>
                <a:ea typeface="Aptos"/>
                <a:cs typeface="Aptos"/>
              </a:rPr>
              <a:t>LOCALIZE &amp; RESONATE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1A8ED8-ACB9-4882-92D5-1C502F97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238500"/>
            <a:ext cx="3276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9D6F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E5DE37-F8C0-4B25-8333-3ECC522C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3909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3D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3D8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2484B9-02D7-403B-8022-0CC18186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619500"/>
            <a:ext cx="3276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Shift from product export to localized communication, retail, service standards and cultural relevance.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A3C3A1-D1F8-4F91-B5C2-803AEB74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5529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3D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3D8"/>
                </a:solidFill>
                <a:latin typeface="Aptos"/>
                <a:ea typeface="Aptos"/>
                <a:cs typeface="Aptos"/>
              </a:rPr>
              <a:t>BRAND MECHANISM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03E691-7EB8-42B2-B025-5DA0358E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772025"/>
            <a:ext cx="3276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Build credibility, feelings and resonance outside China.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7E0B2C-C3A7-4BC1-9506-EC6EAA56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391150"/>
            <a:ext cx="32766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C064A5-1B84-43B6-9F66-61C13FBA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4864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KPIs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8AE644-7D74-4050-88EE-6B3785E3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476875"/>
            <a:ext cx="25717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Overseas awareness  |  Service satisfaction  |  Price realization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3A12A2-F9F4-4EAA-8D70-F38F850D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09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3D8"/>
          </a:solidFill>
          <a:ln xmlns:a="http://schemas.openxmlformats.org/drawingml/2006/main" w="38100">
            <a:solidFill>
              <a:srgbClr val="FFFF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317754-8D45-48C9-A831-9B829482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3619500" cy="3648075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F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DFFA45-1C45-427C-B0D4-05E6CE9A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05075"/>
            <a:ext cx="8953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EAF0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D660FB-2CC3-4F9C-AC7F-EC93BABC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33650"/>
            <a:ext cx="7429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3D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3D8"/>
                </a:solidFill>
                <a:latin typeface="Aptos"/>
                <a:ea typeface="Aptos"/>
                <a:cs typeface="Aptos"/>
              </a:rPr>
              <a:t>5+ YEARS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4C683C-D605-46D4-800F-79BD376D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575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3D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63D8"/>
                </a:solidFill>
                <a:latin typeface="Aptos"/>
                <a:ea typeface="Aptos"/>
                <a:cs typeface="Aptos"/>
              </a:rPr>
              <a:t>EXPAND CORPORATE MEANING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E5B543-5A74-4A68-AB94-3E3FAA1C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38500"/>
            <a:ext cx="3276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9D6F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26E8C5-0F62-4F8C-856A-FA5C752F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909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3D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3D8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61F74F-1E3A-47AA-86AD-6594E619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19500"/>
            <a:ext cx="3276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Evolve from an NEV maker into a mobility, battery and energy-storage technology company.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0BC2267-F74C-416D-AE71-2D48EC35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5529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3D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3D8"/>
                </a:solidFill>
                <a:latin typeface="Aptos"/>
                <a:ea typeface="Aptos"/>
                <a:cs typeface="Aptos"/>
              </a:rPr>
              <a:t>BRAND MECHANISM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A5D154-A8DD-4CF1-B267-D399214D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72025"/>
            <a:ext cx="3276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Create a broader, future-facing master-brand purpose.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3003A54-49E5-4FD0-9C49-E6E7D300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391150"/>
            <a:ext cx="32766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6955F75-8BCD-4ADF-B5B6-486A70E1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4864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KPIs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BF587F1-0E70-4464-97AB-BFA6627D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76875"/>
            <a:ext cx="25717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Corporate brand value  |  Non-auto association  |  Ecosystem adoption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C85D1B5-70CD-46F6-A790-7AE3EED6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115050"/>
            <a:ext cx="9334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73247"/>
          </a:solidFill>
          <a:ln xmlns:a="http://schemas.openxmlformats.org/drawingml/2006/main" w="9525">
            <a:solidFill>
              <a:srgbClr val="27324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58B0B2-E41B-4747-81AF-3EC17143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200775"/>
            <a:ext cx="89535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ARCHITECTURE GUARDRAIL  Use existing premium marques for upward movement; do not create another overlapping sub-brand.</a:t>
            </a:r>
          </a:p>
        </p:txBody>
      </p:sp>
    </p:spTree>
    <p:extLst>
      <p:ext uri="{BB962C8B-B14F-4D97-AF65-F5344CB8AC3E}">
        <p14:creationId xmlns:p14="http://schemas.microsoft.com/office/powerpoint/2010/main" val="7299175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4A5D305-4390-4DAC-8528-81CB508F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"/>
            <a:ext cx="1104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7A0B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7A0B0"/>
                </a:solidFill>
                <a:latin typeface="Aptos"/>
                <a:ea typeface="Aptos"/>
                <a:cs typeface="Aptos"/>
              </a:rPr>
              <a:t>BREAKTHROUGH BETS &amp; GOVERNANCE</a:t>
            </a:r>
          </a:p>
        </p:txBody>
      </p:sp>
      <p:sp>
        <p:nvSpPr>
          <p:cNvPr id="2" name="section-marker">
            <a:extLst xmlns:a="http://schemas.openxmlformats.org/drawingml/2006/main">
              <a:ext uri="{FF2B5EF4-FFF2-40B4-BE49-F238E27FC236}">
                <a16:creationId xmlns:a16="http://schemas.microsoft.com/office/drawing/2014/main" id="{AB613851-A579-4CF4-B4DB-84D1788A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3400"/>
            <a:ext cx="4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2FB4D-AAB4-4874-8EA1-850CC6ED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66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Bold growth is valuable only when brand-control gates are explicit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921F8F-C54C-4F4D-A4FF-7B4EF1AC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10287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Each bet requires a defined upside, risk boundary, approval gate and tracking system.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DD61FF-A0F4-4A23-9C6A-C47E708D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AA3B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AA3B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AC74FD-DA99-4B39-98EA-BBA7FE24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0"/>
            <a:ext cx="53340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C4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76C589-BC73-4E97-AE90-B885C5A8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28750"/>
            <a:ext cx="53340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F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00DA04-2404-4011-BF5D-FCE5BEAE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0200"/>
            <a:ext cx="10477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BE9E7"/>
          </a:solidFill>
          <a:ln xmlns:a="http://schemas.openxmlformats.org/drawingml/2006/main" w="0">
            <a:solidFill>
              <a:srgbClr val="FBE9E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ED1C7-248D-4000-9023-DC6D248D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28775"/>
            <a:ext cx="8953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3A3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3A34"/>
                </a:solidFill>
                <a:latin typeface="Aptos"/>
                <a:ea typeface="Aptos"/>
                <a:cs typeface="Aptos"/>
              </a:rPr>
              <a:t>TESLA BET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32E1EC-D95F-4385-9A92-97525C17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00200"/>
            <a:ext cx="90487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EAF0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0685D6-BA8B-4725-8E8A-D8F5E068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28775"/>
            <a:ext cx="7524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3D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3D8"/>
                </a:solidFill>
                <a:latin typeface="Aptos"/>
                <a:ea typeface="Aptos"/>
                <a:cs typeface="Aptos"/>
              </a:rPr>
              <a:t>BYD BET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C1D4D2-6A10-4D97-91FE-656FD438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71675"/>
            <a:ext cx="4857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License selected FSD modules and become an intelligent-mobility platform.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9CFBD2-D26B-4FB1-A881-F7374CDB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71675"/>
            <a:ext cx="4857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Make Yangwang and Fangchengbao intelligent-premium flagships.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B92A50-5787-4F92-833F-8673074D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9850"/>
            <a:ext cx="48577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F0C4C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B124D5-1AAD-4707-BA5A-D79D4C3C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09850"/>
            <a:ext cx="48577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9D6F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07963E-69AC-4212-9616-0C7EE71C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3866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3866B"/>
                </a:solidFill>
                <a:latin typeface="Aptos"/>
                <a:ea typeface="Aptos"/>
                <a:cs typeface="Aptos"/>
              </a:rPr>
              <a:t>UPSIDE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1059F9-97BB-4F9C-8A24-D756B7F4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43200"/>
            <a:ext cx="4048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Ecosystem reach • recurring revenue • category authority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3FA685-953B-4AAE-B1A6-CDE96656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3A3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3A34"/>
                </a:solidFill>
                <a:latin typeface="Aptos"/>
                <a:ea typeface="Aptos"/>
                <a:cs typeface="Aptos"/>
              </a:rPr>
              <a:t>RISKS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15708D-59D3-4F7A-B168-052EC0E8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19450"/>
            <a:ext cx="4048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Safety liability • regulation • weaker exclusivity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4DE6C4-05A6-410F-A08C-5A4F407B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7324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73247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3111B1-B164-40EE-B9D6-9CCB174F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95700"/>
            <a:ext cx="40481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License modular capabilities only after safety and brand-control thresholds are met.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0265F0-9CC0-4DBC-90A0-3AADBAF8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622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3866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3866B"/>
                </a:solidFill>
                <a:latin typeface="Aptos"/>
                <a:ea typeface="Aptos"/>
                <a:cs typeface="Aptos"/>
              </a:rPr>
              <a:t>UPSIDE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5C166D-1236-4926-B46D-69DA1B16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743200"/>
            <a:ext cx="4048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Premium proof • technology halo • faster brand upgrading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3CB5C8-F417-4AC4-BD69-8B52CBE1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385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3D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3D8"/>
                </a:solidFill>
                <a:latin typeface="Aptos"/>
                <a:ea typeface="Aptos"/>
                <a:cs typeface="Aptos"/>
              </a:rPr>
              <a:t>RISKS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2E1C1C-2F7C-4A52-B5F6-AFD32415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19450"/>
            <a:ext cx="4048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Cannibalization • architecture overlap • fragmented investment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94A0C1-D84E-48D6-9B3D-16387713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7324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73247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3F0563-8297-48D9-8E84-EB89A7A1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695700"/>
            <a:ext cx="40481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Give each marque an exclusive audience, price band, design code and channel role.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C16BE3-5EE8-4B8C-BA51-9AABDB30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67250"/>
            <a:ext cx="7239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76FB4A-67EC-4BFF-A61C-31C0A0B5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38700"/>
            <a:ext cx="6762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QUARTERLY BRAND-EQUITY DASHBOARD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77AA42-85A8-48BB-97C9-98C0A9CD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720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3A3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3A34"/>
                </a:solidFill>
                <a:latin typeface="Aptos"/>
                <a:ea typeface="Aptos"/>
                <a:cs typeface="Aptos"/>
              </a:rPr>
              <a:t>Premium perception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4EB00E-3C1A-409F-B933-E9DD7053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7207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Can the brand command more?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B8FF12-9BD9-4A6D-BF13-B9844D3C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625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3D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3D8"/>
                </a:solidFill>
                <a:latin typeface="Aptos"/>
                <a:ea typeface="Aptos"/>
                <a:cs typeface="Aptos"/>
              </a:rPr>
              <a:t>Purchase consideration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CA8245-ED03-4F33-97E8-BD07AF8A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36257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Is strategy expanding demand?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DCEC7A-9034-48FA-8736-FC367DDA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530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3A3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3A34"/>
                </a:solidFill>
                <a:latin typeface="Aptos"/>
                <a:ea typeface="Aptos"/>
                <a:cs typeface="Aptos"/>
              </a:rPr>
              <a:t>NPS / advocacy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3495CB-5892-45B7-ACC6-00B69789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55307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Is experience becoming resonance?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8A2097-01F6-4E61-9D1D-8F650CDE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435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3D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3D8"/>
                </a:solidFill>
                <a:latin typeface="Aptos"/>
                <a:ea typeface="Aptos"/>
                <a:cs typeface="Aptos"/>
              </a:rPr>
              <a:t>Price realization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378E9C-BE98-462D-97AB-F0E936C3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74357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Does equity survive transactions?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2218FE-2983-4A9C-9837-C36D731E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340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3A3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3A34"/>
                </a:solidFill>
                <a:latin typeface="Aptos"/>
                <a:ea typeface="Aptos"/>
                <a:cs typeface="Aptos"/>
              </a:rPr>
              <a:t>Cross-brand confusion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FC953C-DF33-4FA1-B585-AB461024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93407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Is architecture becoming clearer?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C1E099-B461-4948-83D0-E69F3A47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667250"/>
            <a:ext cx="3381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273247"/>
          </a:solidFill>
          <a:ln xmlns:a="http://schemas.openxmlformats.org/drawingml/2006/main" w="9525">
            <a:solidFill>
              <a:srgbClr val="27324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8B6230C-4CDB-418F-B2A2-A8E2559F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5775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FINAL APPROVAL RULE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03BE37-8E31-445E-8D8A-A8FCCF14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162550"/>
            <a:ext cx="29527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66728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26574D2-58C5-439D-B955-04D64B7D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314950"/>
            <a:ext cx="2952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Approve a growth initiative only when it reinforces the core brand meaning and strengthens one weak CBBE layer.</a:t>
            </a:r>
          </a:p>
        </p:txBody>
      </p:sp>
    </p:spTree>
    <p:extLst>
      <p:ext uri="{BB962C8B-B14F-4D97-AF65-F5344CB8AC3E}">
        <p14:creationId xmlns:p14="http://schemas.microsoft.com/office/powerpoint/2010/main" val="2620058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2026-06-09T13:42:32.7090000Z</dcterms:created>
  <dcterms:modified xsi:type="dcterms:W3CDTF">2026-06-09T13:42:32.7090000Z</dcterms:modified>
</coreProperties>
</file>