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fa9108b79d450d" /><Relationship Type="http://schemas.openxmlformats.org/officeDocument/2006/relationships/extended-properties" Target="/docProps/app.xml" Id="R336018d05ef94ed2" /><Relationship Type="http://schemas.openxmlformats.org/officeDocument/2006/relationships/officeDocument" Target="/ppt/presentation.xml" Id="R4aeffe829e69448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8614aa1f9c7425b"/>
  </p:sldMasterIdLst>
  <p:notesMasterIdLst>
    <p:notesMasterId xmlns:r="http://schemas.openxmlformats.org/officeDocument/2006/relationships" r:id="Rab465878522c454a"/>
  </p:notesMasterIdLst>
  <p:sldIdLst>
    <p:sldId xmlns:r="http://schemas.openxmlformats.org/officeDocument/2006/relationships" id="256" r:id="Rb30ed2f6242041d7"/>
    <p:sldId xmlns:r="http://schemas.openxmlformats.org/officeDocument/2006/relationships" id="257" r:id="R4a059c35afda424c"/>
    <p:sldId xmlns:r="http://schemas.openxmlformats.org/officeDocument/2006/relationships" id="258" r:id="R3cbbec4010234fee"/>
    <p:sldId xmlns:r="http://schemas.openxmlformats.org/officeDocument/2006/relationships" id="259" r:id="R43b2cde095784f35"/>
    <p:sldId xmlns:r="http://schemas.openxmlformats.org/officeDocument/2006/relationships" id="260" r:id="R12d36473ee86415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614aa1f9c7425b" /><Relationship Type="http://schemas.openxmlformats.org/officeDocument/2006/relationships/theme" Target="/ppt/theme/theme1.xml" Id="Rcfaf9ca1331b41dd" /><Relationship Type="http://schemas.openxmlformats.org/officeDocument/2006/relationships/notesMaster" Target="/ppt/notesMasters/notesMaster1.xml" Id="Rab465878522c454a" /><Relationship Type="http://schemas.openxmlformats.org/officeDocument/2006/relationships/presProps" Target="/ppt/presProps.xml" Id="R0516f5aec016492a" /><Relationship Type="http://schemas.openxmlformats.org/officeDocument/2006/relationships/viewProps" Target="/ppt/viewProps.xml" Id="R2121f3dac5ff408f" /><Relationship Type="http://schemas.openxmlformats.org/officeDocument/2006/relationships/tableStyles" Target="/ppt/tableStyles.xml" Id="R68f93b9f96144595" /><Relationship Type="http://schemas.openxmlformats.org/officeDocument/2006/relationships/slide" Target="/ppt/slides/slide1.xml" Id="Rb30ed2f6242041d7" /><Relationship Type="http://schemas.openxmlformats.org/officeDocument/2006/relationships/slide" Target="/ppt/slides/slide2.xml" Id="R4a059c35afda424c" /><Relationship Type="http://schemas.openxmlformats.org/officeDocument/2006/relationships/slide" Target="/ppt/slides/slide3.xml" Id="R3cbbec4010234fee" /><Relationship Type="http://schemas.openxmlformats.org/officeDocument/2006/relationships/slide" Target="/ppt/slides/slide4.xml" Id="R43b2cde095784f35" /><Relationship Type="http://schemas.openxmlformats.org/officeDocument/2006/relationships/slide" Target="/ppt/slides/slide5.xml" Id="R12d36473ee86415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31220a8eba640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19ee03d0f4499c" /><Relationship Type="http://schemas.openxmlformats.org/officeDocument/2006/relationships/notesMaster" Target="/ppt/notesMasters/notesMaster1.xml" Id="Rd1964f4f4c20487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c906cb872c4715" /><Relationship Type="http://schemas.openxmlformats.org/officeDocument/2006/relationships/notesMaster" Target="/ppt/notesMasters/notesMaster1.xml" Id="R5842d87568684ec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837e6a0715e484d" /><Relationship Type="http://schemas.openxmlformats.org/officeDocument/2006/relationships/notesMaster" Target="/ppt/notesMasters/notesMaster1.xml" Id="R9e63fcdf76de43e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ef519d984674efa" /><Relationship Type="http://schemas.openxmlformats.org/officeDocument/2006/relationships/notesMaster" Target="/ppt/notesMasters/notesMaster1.xml" Id="Rdfea440847a2404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28c229a58664a32" /><Relationship Type="http://schemas.openxmlformats.org/officeDocument/2006/relationships/notesMaster" Target="/ppt/notesMasters/notesMaster1.xml" Id="R2de1044e9b924f1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65c0746d83450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f9aba4e070462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fdfe1e2e924c9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9e530c8f6e480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e88ffb35e14f1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95f874e8ca424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628cac45ff4c4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ab459f1fb54d3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af1cde872f442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32d4f09e4e4846" /></Relationships>
</file>

<file path=ppt/slideLayouts/slideLayout2.xml><?xml version="1.0" encoding="utf-8"?>
<p:sldLayout xmlns:p="http://schemas.openxmlformats.org/presentationml/2006/main" type="vertTitleAndTx">
  <p:cSld name="竖版"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F5D5E743-B39E-4A0F-BB68-B8D012AA2F93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725759" y="365125"/>
            <a:ext cx="2629159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4351D1FB-5C71-4DEC-9455-A13F1EF19B08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8283" y="365125"/>
            <a:ext cx="7735062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5E8EF7A-EC67-4F71-A322-A6B2A54F41DA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0B8691A-33FB-4AB7-A6EA-7AEB2B25DAB5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48C2791-A157-468E-9A79-12C8AFC0FC80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picTx">
  <p:cSld name="图片与标题"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EE994BE-476A-40F9-A9F5-ACD5B615BC69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871" y="457200"/>
            <a:ext cx="4165759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/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669657B6-6ED2-4630-9960-6B26DCCFE2F5}"/>
              </a:ext>
            </a:extLst>
          </p:cNvPr>
          <p:cNvSpPr/>
          <p:nvPr>
            <p:ph type="pic" idx="1"/>
          </p:nvPr>
        </p:nvSpPr>
        <p:spPr>
          <a:xfrm xmlns:a="http://schemas.openxmlformats.org/drawingml/2006/main">
            <a:off x="5183698" y="457201"/>
            <a:ext cx="6172808" cy="540385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B824041E-81BC-4D6D-957B-A924F9BE352B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839871" y="2057400"/>
            <a:ext cx="4165759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9774BB20-2945-4EEE-A6EE-B0B833DB0E8A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7A5E3E46-E5D6-4B65-99C1-0D5DAB190D76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31DBA389-F160-48E5-B1DC-DAC5C83260E4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blank">
  <p:cSld name="空白"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5688D3FA-E59D-4478-987D-7DD56B77F68B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FE35CE9C-A8AC-4C18-B234-5F0FFB62A12B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A1ADE3D3-9CE2-42CB-9BE5-0D6DF25D1ADB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仅标题"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DF42400-C611-4F4C-9B90-605A436056EF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4CDD6E2C-D594-437B-9D09-203D52B72714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49668662-14A7-4867-A01F-3E3A9AD5D434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376CE06-30F4-458E-ADEA-63888403A494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woTxTwoObj">
  <p:cSld name="比较"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9CA3DD1-9F64-4E73-941A-F7BABE1F158B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871" y="365125"/>
            <a:ext cx="10516635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C11A0F45-DFDA-4328-A5ED-DBEC3E00F4B4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1186891" y="1778438"/>
            <a:ext cx="4874054" cy="823912"/>
          </a:xfrm>
        </p:spPr>
        <p:txBody>
          <a:bodyPr xmlns:a="http://schemas.openxmlformats.org/drawingml/2006/main" anchor="ctr"/>
          <a:lstStyle xmlns:a="http://schemas.openxmlformats.org/drawingml/2006/main"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F6FC6ACC-DC26-4CED-B6A6-6F7271DC8E03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1186891" y="2665379"/>
            <a:ext cx="4874054" cy="352428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88735AC3-480C-4BFB-A42E-C890A70AD269}"/>
              </a:ext>
            </a:extLst>
          </p:cNvPr>
          <p:cNvSpPr/>
          <p:nvPr>
            <p:ph type="body" idx="3"/>
          </p:nvPr>
        </p:nvSpPr>
        <p:spPr>
          <a:xfrm xmlns:a="http://schemas.openxmlformats.org/drawingml/2006/main">
            <a:off x="6257554" y="1778438"/>
            <a:ext cx="4898058" cy="823912"/>
          </a:xfrm>
        </p:spPr>
        <p:txBody>
          <a:bodyPr xmlns:a="http://schemas.openxmlformats.org/drawingml/2006/main" anchor="ctr"/>
          <a:lstStyle xmlns:a="http://schemas.openxmlformats.org/drawingml/2006/main"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 xmlns:a="http://schemas.openxmlformats.org/drawingml/2006/main"/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D89E5BD1-E3FB-4E1A-86A1-5BDEDCC9037B}"/>
              </a:ext>
            </a:extLst>
          </p:cNvPr>
          <p:cNvSpPr/>
          <p:nvPr>
            <p:ph idx="4"/>
          </p:nvPr>
        </p:nvSpPr>
        <p:spPr>
          <a:xfrm xmlns:a="http://schemas.openxmlformats.org/drawingml/2006/main">
            <a:off x="6257554" y="2665379"/>
            <a:ext cx="4898058" cy="352428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7BC82666-2006-44C6-AA2F-1D27074138FF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AE60BA6F-D6B7-4D64-9D09-B4F6BB43C834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0F1BDDE7-BFF9-49DC-ABDF-71E94505DAB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twoObj">
  <p:cSld name="两栏内容"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DD784BE-5E17-47A4-B31F-794FB20C2E1C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1D457215-A3AE-465A-8940-D1CD049C9EFC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838283" y="1825625"/>
            <a:ext cx="518211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09B390F7-C6F4-4270-95AD-B7C8A68013AE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6172808" y="1825625"/>
            <a:ext cx="518211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4F3212D3-DEE5-4A75-816B-C2043C52E2A5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7B2EB4FB-EA04-4D90-AE69-68B032C0D1D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76D64357-722B-466E-9E09-811AA3617C0C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secHead">
  <p:cSld name="节标题"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EC0BF9C-23EE-42B7-ACF3-1A57C6BCDDB1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1932" y="1709738"/>
            <a:ext cx="10516635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5A8F6E81-46F4-424D-9390-7845BD6147B1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1932" y="4589463"/>
            <a:ext cx="10516635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6D9E8AA-5761-408C-9437-6A51BAFE022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4592E5F-EB79-4700-8109-AFCA34DF9E99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B37AE04-7AF4-4CEE-AD39-B7FF958549C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obj">
  <p:cSld name="标题和内容"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3C198D3-F71E-4384-A5C9-3E97B08004BC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D8A788B7-51FD-4331-B65F-A26DB3DEF293}"/>
              </a:ext>
            </a:extLst>
          </p:cNvPr>
          <p:cNvSpPr/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6D288CD-B2E5-4884-991B-F3581F5F2C59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0D3C70C-4328-436F-B387-26A66800377D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D851CD4-D8FA-497C-8CCB-6000D716C30D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>
  <p:cSld name="内容"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内容占位符 1">
            <a:extLst xmlns:a="http://schemas.openxmlformats.org/drawingml/2006/main">
              <a:ext uri="{FF2B5EF4-FFF2-40B4-BE49-F238E27FC236}">
                <a16:creationId xmlns:a16="http://schemas.microsoft.com/office/drawing/2014/main" id="{B9FD86E9-9D5C-4BBE-BB28-D331350D2956}"/>
              </a:ext>
            </a:extLst>
          </p:cNvPr>
          <p:cNvSpPr/>
          <p:nvPr>
            <p:ph idx="0"/>
          </p:nvPr>
        </p:nvSpPr>
        <p:spPr>
          <a:xfrm xmlns:a="http://schemas.openxmlformats.org/drawingml/2006/main">
            <a:off x="838283" y="365125"/>
            <a:ext cx="10516635" cy="58118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08ED50C9-7DEB-4BC0-9EF7-7280FDF3A541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5415A3EA-FD0A-454F-826E-57EDFFBB5DFE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8DE97871-5A74-4BAF-B157-A3FB6660DED4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type="title">
  <p:cSld name="标题幻灯片"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6A85B5C-2DAA-4328-B319-344159B99F32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150" y="1122363"/>
            <a:ext cx="91449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9A0724A8-58D1-4221-B59C-D3D7AD92CB52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150" y="3602038"/>
            <a:ext cx="91449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31F2805-6962-47D5-8B16-8E74446F4D39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09D4F7B3-6134-4C31-B244-F18F9E8762D6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7EA0B03-9390-4ECD-AF15-F56894B82984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21986ecf12446d2" /><Relationship Type="http://schemas.openxmlformats.org/officeDocument/2006/relationships/slideLayout" Target="/ppt/slideLayouts/slideLayout2.xml" Id="R0db716488cfe46f2" /><Relationship Type="http://schemas.openxmlformats.org/officeDocument/2006/relationships/slideLayout" Target="/ppt/slideLayouts/slideLayout3.xml" Id="Rff6200147bff4f29" /><Relationship Type="http://schemas.openxmlformats.org/officeDocument/2006/relationships/slideLayout" Target="/ppt/slideLayouts/slideLayout4.xml" Id="R44dcee446b104b35" /><Relationship Type="http://schemas.openxmlformats.org/officeDocument/2006/relationships/slideLayout" Target="/ppt/slideLayouts/slideLayout5.xml" Id="R22fc37639f9e43dc" /><Relationship Type="http://schemas.openxmlformats.org/officeDocument/2006/relationships/slideLayout" Target="/ppt/slideLayouts/slideLayout6.xml" Id="R3257015f8aad419a" /><Relationship Type="http://schemas.openxmlformats.org/officeDocument/2006/relationships/slideLayout" Target="/ppt/slideLayouts/slideLayout7.xml" Id="Rb5b2299dd56b43b8" /><Relationship Type="http://schemas.openxmlformats.org/officeDocument/2006/relationships/slideLayout" Target="/ppt/slideLayouts/slideLayout8.xml" Id="Rfbb22637dad54b64" /><Relationship Type="http://schemas.openxmlformats.org/officeDocument/2006/relationships/slideLayout" Target="/ppt/slideLayouts/slideLayout9.xml" Id="R4baef304d6184800" /><Relationship Type="http://schemas.openxmlformats.org/officeDocument/2006/relationships/slideLayout" Target="/ppt/slideLayouts/slideLayout10.xml" Id="Rad1cd4f657674999" /><Relationship Type="http://schemas.openxmlformats.org/officeDocument/2006/relationships/slideLayout" Target="/ppt/slideLayouts/slideLayout11.xml" Id="R32fe48f90eed4c3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C7B33CF1-A72A-4AC3-B9F8-807C506CD2A5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8283" y="365125"/>
            <a:ext cx="10516635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DFADBECA-11EE-4AF8-925C-6E8F78248EF9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8283" y="1825625"/>
            <a:ext cx="10516635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5B77F79-E5DC-43B5-AC40-66CE6ED485C1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838283" y="6356350"/>
            <a:ext cx="274347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9321360-8D2B-4AA1-B06E-F4052D582A4A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038998" y="6356350"/>
            <a:ext cx="4115205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47DAE11-7B5D-4BFC-9755-34CE80152972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1448" y="6356350"/>
            <a:ext cx="274347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b716488cfe46f2"/>
    <p:sldLayoutId xmlns:r="http://schemas.openxmlformats.org/officeDocument/2006/relationships" id="2147483650" r:id="Rff6200147bff4f29"/>
    <p:sldLayoutId xmlns:r="http://schemas.openxmlformats.org/officeDocument/2006/relationships" id="2147483651" r:id="R44dcee446b104b35"/>
    <p:sldLayoutId xmlns:r="http://schemas.openxmlformats.org/officeDocument/2006/relationships" id="2147483652" r:id="R22fc37639f9e43dc"/>
    <p:sldLayoutId xmlns:r="http://schemas.openxmlformats.org/officeDocument/2006/relationships" id="2147483653" r:id="R3257015f8aad419a"/>
    <p:sldLayoutId xmlns:r="http://schemas.openxmlformats.org/officeDocument/2006/relationships" id="2147483654" r:id="Rb5b2299dd56b43b8"/>
    <p:sldLayoutId xmlns:r="http://schemas.openxmlformats.org/officeDocument/2006/relationships" id="2147483655" r:id="Rfbb22637dad54b64"/>
    <p:sldLayoutId xmlns:r="http://schemas.openxmlformats.org/officeDocument/2006/relationships" id="2147483656" r:id="R4baef304d6184800"/>
    <p:sldLayoutId xmlns:r="http://schemas.openxmlformats.org/officeDocument/2006/relationships" id="2147483657" r:id="Rad1cd4f657674999"/>
    <p:sldLayoutId xmlns:r="http://schemas.openxmlformats.org/officeDocument/2006/relationships" id="2147483658" r:id="R32fe48f90eed4c3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937d5eb7599b4f35" /><Relationship Type="http://schemas.openxmlformats.org/officeDocument/2006/relationships/image" Target="/ppt/media/image.png" Id="Ra843cd80077042c3" /><Relationship Type="http://schemas.openxmlformats.org/officeDocument/2006/relationships/image" Target="/ppt/media/image2.png" Id="R260028ff9a164006" /><Relationship Type="http://schemas.openxmlformats.org/officeDocument/2006/relationships/notesSlide" Target="/ppt/notesSlides/notesSlide1.xml" Id="Rfacb4c102c66476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8f3b888c61264891" /><Relationship Type="http://schemas.openxmlformats.org/officeDocument/2006/relationships/image" Target="/ppt/media/image.png" Id="Rf505886ff4644c45" /><Relationship Type="http://schemas.openxmlformats.org/officeDocument/2006/relationships/image" Target="/ppt/media/image2.png" Id="R4f04c09be2c34d48" /><Relationship Type="http://schemas.openxmlformats.org/officeDocument/2006/relationships/notesSlide" Target="/ppt/notesSlides/notesSlide2.xml" Id="R015c20c44a8b403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0fc152b41db644bd" /><Relationship Type="http://schemas.openxmlformats.org/officeDocument/2006/relationships/image" Target="/ppt/media/image3.png" Id="R9459c7801c0d45fd" /><Relationship Type="http://schemas.openxmlformats.org/officeDocument/2006/relationships/image" Target="/ppt/media/image4.png" Id="Raf710bb4a1b34f8f" /><Relationship Type="http://schemas.openxmlformats.org/officeDocument/2006/relationships/image" Target="/ppt/media/image5.png" Id="R900f96b9ce8a4923" /><Relationship Type="http://schemas.openxmlformats.org/officeDocument/2006/relationships/image" Target="/ppt/media/image6.png" Id="R5d4436f574604ec7" /><Relationship Type="http://schemas.openxmlformats.org/officeDocument/2006/relationships/image" Target="/ppt/media/image7.png" Id="R98abb82d7f614b36" /><Relationship Type="http://schemas.openxmlformats.org/officeDocument/2006/relationships/image" Target="/ppt/media/image.jpeg" Id="Rb1b598bb45b04d18" /><Relationship Type="http://schemas.openxmlformats.org/officeDocument/2006/relationships/image" Target="/ppt/media/image.svg" Id="Rc1b4dda3fd35451a" /><Relationship Type="http://schemas.openxmlformats.org/officeDocument/2006/relationships/image" Target="/ppt/media/image2.png" Id="R8d1a90af8c5f4485" /><Relationship Type="http://schemas.openxmlformats.org/officeDocument/2006/relationships/notesSlide" Target="/ppt/notesSlides/notesSlide3.xml" Id="R195e19e5f4a944b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f69a6f0a41f04baf" /><Relationship Type="http://schemas.openxmlformats.org/officeDocument/2006/relationships/image" Target="/ppt/media/image3.png" Id="R9cd3226237444e9a" /><Relationship Type="http://schemas.openxmlformats.org/officeDocument/2006/relationships/image" Target="/ppt/media/image4.png" Id="R474b5c8a989a4a51" /><Relationship Type="http://schemas.openxmlformats.org/officeDocument/2006/relationships/image" Target="/ppt/media/image5.png" Id="R5486ff14953d4cdc" /><Relationship Type="http://schemas.openxmlformats.org/officeDocument/2006/relationships/image" Target="/ppt/media/image6.png" Id="R6480b624cbab4886" /><Relationship Type="http://schemas.openxmlformats.org/officeDocument/2006/relationships/image" Target="/ppt/media/image7.png" Id="R4508b52c61944713" /><Relationship Type="http://schemas.openxmlformats.org/officeDocument/2006/relationships/image" Target="/ppt/media/image.jpeg" Id="R1b69225a58454d7e" /><Relationship Type="http://schemas.openxmlformats.org/officeDocument/2006/relationships/image" Target="/ppt/media/image.svg" Id="Rb6a5ccefc7dd483e" /><Relationship Type="http://schemas.openxmlformats.org/officeDocument/2006/relationships/image" Target="/ppt/media/image2.png" Id="R681b8be5aa494122" /><Relationship Type="http://schemas.openxmlformats.org/officeDocument/2006/relationships/notesSlide" Target="/ppt/notesSlides/notesSlide4.xml" Id="Rf640493eebab429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77fe068f0c554138" /><Relationship Type="http://schemas.openxmlformats.org/officeDocument/2006/relationships/image" Target="/ppt/media/image8.png" Id="R92c91716d52b4ebc" /><Relationship Type="http://schemas.openxmlformats.org/officeDocument/2006/relationships/image" Target="/ppt/media/image.jpeg" Id="R6632dcf98c5b4550" /><Relationship Type="http://schemas.openxmlformats.org/officeDocument/2006/relationships/image" Target="/ppt/media/image2.png" Id="R50ece962abd042b7" /><Relationship Type="http://schemas.openxmlformats.org/officeDocument/2006/relationships/notesSlide" Target="/ppt/notesSlides/notesSlide5.xml" Id="R5eac0fe89cdd419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标题 5">
            <a:extLst xmlns:a="http://schemas.openxmlformats.org/drawingml/2006/main">
              <a:ext uri="{FF2B5EF4-FFF2-40B4-BE49-F238E27FC236}">
                <a16:creationId xmlns:a16="http://schemas.microsoft.com/office/drawing/2014/main" id="{46B45230-BC22-436F-B463-88EF4E0361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08710" y="1684020"/>
            <a:ext cx="5210175" cy="91376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800" b="0">
                <a:latin typeface="Microsoft YaHei Bold"/>
                <a:ea typeface="Microsoft YaHei Bold"/>
                <a:cs typeface="Microsoft YaHei Bold"/>
              </a:defRPr>
            </a:lvl1pPr>
          </a:lstStyle>
          <a:p xmlns:a="http://schemas.openxmlformats.org/drawingml/2006/main">
            <a:r>
              <a:rPr sz="3200"/>
              <a:t>Opposite Brand Gaps Require Opposite Growth</a:t>
            </a:r>
          </a:p>
        </p:txBody>
      </p:sp>
      <p:sp>
        <p:nvSpPr>
          <p:cNvPr id="8" name="副标题 2">
            <a:extLst xmlns:a="http://schemas.openxmlformats.org/drawingml/2006/main">
              <a:ext uri="{FF2B5EF4-FFF2-40B4-BE49-F238E27FC236}">
                <a16:creationId xmlns:a16="http://schemas.microsoft.com/office/drawing/2014/main" id="{9B2F1752-066F-41B6-BAE1-375E34CA062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991995" y="3366770"/>
            <a:ext cx="2114550" cy="1064895"/>
          </a:xfr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rPr sz="1000">
                <a:solidFill>
                  <a:schemeClr val="bg2">
                    <a:lumMod val="25000"/>
                  </a:schemeClr>
                </a:solidFill>
              </a:rPr>
              <a:t>TESLA'S ASSET</a:t>
            </a:r>
          </a:p>
          <a:p xmlns:a="http://schemas.openxmlformats.org/drawingml/2006/main">
            <a:pPr>
              <a:buNone/>
            </a:pPr>
            <a:r>
              <a:rPr sz="1000">
                <a:solidFill>
                  <a:schemeClr val="bg2">
                    <a:lumMod val="25000"/>
                  </a:schemeClr>
                </a:solidFill>
              </a:rPr>
              <a:t>Premium imagery, emotion, and resonance create pricing power and advocacy.</a:t>
            </a:r>
          </a:p>
        </p:txBody>
      </p:sp>
      <p:sp>
        <p:nvSpPr>
          <p:cNvPr id="9" name="标题 3">
            <a:extLst xmlns:a="http://schemas.openxmlformats.org/drawingml/2006/main">
              <a:ext uri="{FF2B5EF4-FFF2-40B4-BE49-F238E27FC236}">
                <a16:creationId xmlns:a16="http://schemas.microsoft.com/office/drawing/2014/main" id="{A6CF4D68-A60C-4542-964C-4B6649788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" y="1398270"/>
            <a:ext cx="328803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rmAutofit fontScale="100000"/>
          </a:bodyPr>
          <a:lstStyle xmlns:a="http://schemas.openxmlformats.org/drawingml/2006/main">
            <a:lvl1pPr>
              <a:buNone/>
              <a:defRPr b="1" u="none" cap="none" spc="0">
                <a:solidFill>
                  <a:schemeClr val="bg1"/>
                </a:solidFill>
                <a:latin typeface="Microsoft YaHei Bold"/>
                <a:ea typeface="Microsoft YaHei Bold"/>
                <a:cs typeface="Microsoft YaHei Bold"/>
              </a:defRPr>
            </a:lvl1pPr>
          </a:lstStyle>
          <a:p xmlns:a="http://schemas.openxmlformats.org/drawingml/2006/main">
            <a:pPr algn="l">
              <a:buNone/>
            </a:pPr>
            <a:r>
              <a:rPr sz="1200">
                <a:solidFill>
                  <a:srgbClr val="65110E"/>
                </a:solidFill>
              </a:rPr>
              <a:t>DIAGNOSIS</a:t>
            </a:r>
          </a:p>
        </p:txBody>
      </p:sp>
      <p:sp>
        <p:nvSpPr>
          <p:cNvPr id="19" name="直接连接符 18">
            <a:extLst xmlns:a="http://schemas.openxmlformats.org/drawingml/2006/main">
              <a:ext uri="{FF2B5EF4-FFF2-40B4-BE49-F238E27FC236}">
                <a16:creationId xmlns:a16="http://schemas.microsoft.com/office/drawing/2014/main" id="{1480571E-A24A-46F7-B7FA-5E16838D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210310" y="2863850"/>
            <a:ext cx="1038225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6511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" name="副标题 2">
            <a:extLst xmlns:a="http://schemas.openxmlformats.org/drawingml/2006/main">
              <a:ext uri="{FF2B5EF4-FFF2-40B4-BE49-F238E27FC236}">
                <a16:creationId xmlns:a16="http://schemas.microsoft.com/office/drawing/2014/main" id="{B4BB4257-49DF-4D29-B3C4-3E1EF0142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" y="3280410"/>
            <a:ext cx="579120" cy="5308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 algn="ctr">
              <a:buNone/>
            </a:pPr>
            <a:r>
              <a:rPr sz="2800">
                <a:solidFill>
                  <a:schemeClr val="tx1"/>
                </a:solidFill>
                <a:latin typeface="Arial Bold"/>
                <a:ea typeface="Arial Bold"/>
                <a:cs typeface="Arial Bold"/>
              </a:rPr>
              <a:t>01</a:t>
            </a:r>
          </a:p>
        </p:txBody>
      </p:sp>
      <p:sp>
        <p:nvSpPr>
          <p:cNvPr id="5" name="副标题 2">
            <a:extLst xmlns:a="http://schemas.openxmlformats.org/drawingml/2006/main">
              <a:ext uri="{FF2B5EF4-FFF2-40B4-BE49-F238E27FC236}">
                <a16:creationId xmlns:a16="http://schemas.microsoft.com/office/drawing/2014/main" id="{D01FAC87-9625-494D-8BD8-AD4DEA2E4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2605" y="3280410"/>
            <a:ext cx="579120" cy="5308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 algn="ctr">
              <a:buNone/>
            </a:pPr>
            <a:r>
              <a:rPr sz="2800">
                <a:solidFill>
                  <a:schemeClr val="tx1"/>
                </a:solidFill>
                <a:latin typeface="Arial Bold"/>
                <a:ea typeface="Arial Bold"/>
                <a:cs typeface="Arial Bold"/>
              </a:rPr>
              <a:t>02</a:t>
            </a:r>
          </a:p>
        </p:txBody>
      </p:sp>
      <p:sp>
        <p:nvSpPr>
          <p:cNvPr id="14" name="副标题 2">
            <a:extLst xmlns:a="http://schemas.openxmlformats.org/drawingml/2006/main">
              <a:ext uri="{FF2B5EF4-FFF2-40B4-BE49-F238E27FC236}">
                <a16:creationId xmlns:a16="http://schemas.microsoft.com/office/drawing/2014/main" id="{3E92A799-D179-4B96-BB2C-24527824D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525" y="3366770"/>
            <a:ext cx="2114550" cy="10648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rPr sz="1000">
                <a:solidFill>
                  <a:schemeClr val="bg2">
                    <a:lumMod val="25000"/>
                  </a:schemeClr>
                </a:solidFill>
              </a:rPr>
              <a:t>TESLA'S GAP</a:t>
            </a:r>
          </a:p>
          <a:p xmlns:a="http://schemas.openxmlformats.org/drawingml/2006/main">
            <a:pPr>
              <a:buNone/>
            </a:pPr>
            <a:r>
              <a:rPr sz="1000">
                <a:solidFill>
                  <a:schemeClr val="bg2">
                    <a:lumMod val="25000"/>
                  </a:schemeClr>
                </a:solidFill>
              </a:rPr>
              <a:t>Service friction, narrow coverage, and portfolio concentration constrain scale.</a:t>
            </a:r>
          </a:p>
        </p:txBody>
      </p:sp>
      <p:sp>
        <p:nvSpPr>
          <p:cNvPr id="21" name="副标题 2">
            <a:extLst xmlns:a="http://schemas.openxmlformats.org/drawingml/2006/main">
              <a:ext uri="{FF2B5EF4-FFF2-40B4-BE49-F238E27FC236}">
                <a16:creationId xmlns:a16="http://schemas.microsoft.com/office/drawing/2014/main" id="{6AFDC1E0-143D-41A9-BEF3-48C09A14E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950" y="4631055"/>
            <a:ext cx="2114550" cy="10648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rPr sz="1000">
                <a:solidFill>
                  <a:schemeClr val="bg2">
                    <a:lumMod val="25000"/>
                  </a:schemeClr>
                </a:solidFill>
              </a:rPr>
              <a:t>BYD'S ASSET</a:t>
            </a:r>
          </a:p>
          <a:p xmlns:a="http://schemas.openxmlformats.org/drawingml/2006/main">
            <a:pPr>
              <a:buNone/>
            </a:pPr>
            <a:r>
              <a:rPr sz="1000">
                <a:solidFill>
                  <a:schemeClr val="bg2">
                    <a:lumMod val="25000"/>
                  </a:schemeClr>
                </a:solidFill>
              </a:rPr>
              <a:t>Salience, product performance, cost engineering, and scale accelerate adoption.</a:t>
            </a:r>
          </a:p>
        </p:txBody>
      </p:sp>
      <p:sp>
        <p:nvSpPr>
          <p:cNvPr id="22" name="副标题 2">
            <a:extLst xmlns:a="http://schemas.openxmlformats.org/drawingml/2006/main">
              <a:ext uri="{FF2B5EF4-FFF2-40B4-BE49-F238E27FC236}">
                <a16:creationId xmlns:a16="http://schemas.microsoft.com/office/drawing/2014/main" id="{51A9D1F5-C85A-4E12-856C-E5232B4BD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" y="4544695"/>
            <a:ext cx="578485" cy="5308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 algn="l">
              <a:buNone/>
            </a:pPr>
            <a:r>
              <a:rPr sz="2800">
                <a:solidFill>
                  <a:schemeClr val="tx1"/>
                </a:solidFill>
                <a:latin typeface="Arial Bold"/>
                <a:ea typeface="Arial Bold"/>
                <a:cs typeface="Arial Bold"/>
              </a:rPr>
              <a:t>03</a:t>
            </a:r>
          </a:p>
        </p:txBody>
      </p:sp>
      <p:sp>
        <p:nvSpPr>
          <p:cNvPr id="2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95C2A269-9A94-40AA-830C-3E7C1389F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560" y="4544695"/>
            <a:ext cx="579755" cy="5308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 algn="ctr">
              <a:buNone/>
            </a:pPr>
            <a:r>
              <a:rPr sz="2800">
                <a:solidFill>
                  <a:schemeClr val="tx1"/>
                </a:solidFill>
                <a:latin typeface="Arial Bold"/>
                <a:ea typeface="Arial Bold"/>
                <a:cs typeface="Arial Bold"/>
              </a:rPr>
              <a:t>04</a:t>
            </a:r>
          </a:p>
        </p:txBody>
      </p:sp>
      <p:sp>
        <p:nvSpPr>
          <p:cNvPr id="24" name="副标题 2">
            <a:extLst xmlns:a="http://schemas.openxmlformats.org/drawingml/2006/main">
              <a:ext uri="{FF2B5EF4-FFF2-40B4-BE49-F238E27FC236}">
                <a16:creationId xmlns:a16="http://schemas.microsoft.com/office/drawing/2014/main" id="{145A34DA-18C1-435F-A9E1-96D818DEE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7480" y="4631055"/>
            <a:ext cx="2114550" cy="10648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rPr sz="1000">
                <a:solidFill>
                  <a:schemeClr val="bg2">
                    <a:lumMod val="25000"/>
                  </a:schemeClr>
                </a:solidFill>
              </a:rPr>
              <a:t>BYD'S GAP</a:t>
            </a:r>
          </a:p>
          <a:p xmlns:a="http://schemas.openxmlformats.org/drawingml/2006/main">
            <a:pPr>
              <a:buNone/>
            </a:pPr>
            <a:r>
              <a:rPr sz="1000">
                <a:solidFill>
                  <a:schemeClr val="bg2">
                    <a:lumMod val="25000"/>
                  </a:schemeClr>
                </a:solidFill>
              </a:rPr>
              <a:t>Fragmented architecture and value-for-money cues constrain premium meaning.</a:t>
            </a:r>
          </a:p>
        </p:txBody>
      </p:sp>
      <p:pic>
        <p:nvPicPr>
          <p:cNvPr id="27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43cd80077042c3">
            <a:lum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8790" y="12700"/>
            <a:ext cx="3733165" cy="6845300"/>
          </a:xfrm>
          <a:prstGeom xmlns:a="http://schemas.openxmlformats.org/drawingml/2006/main" prst="rect">
            <a:avLst/>
          </a:prstGeom>
        </p:spPr>
      </p:pic>
      <p:sp>
        <p:nvSpPr>
          <p:cNvPr id="34" name="副标题 2">
            <a:extLst xmlns:a="http://schemas.openxmlformats.org/drawingml/2006/main">
              <a:ext uri="{FF2B5EF4-FFF2-40B4-BE49-F238E27FC236}">
                <a16:creationId xmlns:a16="http://schemas.microsoft.com/office/drawing/2014/main" id="{1F59B6D6-D32E-4822-B15C-71274C7C6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537585"/>
            <a:ext cx="278765" cy="2171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00"/>
              <a:t>A</a:t>
            </a:r>
          </a:p>
        </p:txBody>
      </p:sp>
      <p:sp>
        <p:nvSpPr>
          <p:cNvPr id="36" name="副标题 2">
            <a:extLst xmlns:a="http://schemas.openxmlformats.org/drawingml/2006/main">
              <a:ext uri="{FF2B5EF4-FFF2-40B4-BE49-F238E27FC236}">
                <a16:creationId xmlns:a16="http://schemas.microsoft.com/office/drawing/2014/main" id="{FC56AEA3-E3DC-4E6B-96FF-E14E81966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17745"/>
            <a:ext cx="278765" cy="2171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00"/>
              <a:t>C</a:t>
            </a:r>
          </a:p>
        </p:txBody>
      </p:sp>
      <p:sp>
        <p:nvSpPr>
          <p:cNvPr id="37" name="副标题 2">
            <a:extLst xmlns:a="http://schemas.openxmlformats.org/drawingml/2006/main">
              <a:ext uri="{FF2B5EF4-FFF2-40B4-BE49-F238E27FC236}">
                <a16:creationId xmlns:a16="http://schemas.microsoft.com/office/drawing/2014/main" id="{5092E1F1-47D4-4CFC-B5A5-C4BEB886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2665" y="3537585"/>
            <a:ext cx="278765" cy="2171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00"/>
              <a:t>B</a:t>
            </a:r>
          </a:p>
        </p:txBody>
      </p:sp>
      <p:sp>
        <p:nvSpPr>
          <p:cNvPr id="38" name="副标题 2">
            <a:extLst xmlns:a="http://schemas.openxmlformats.org/drawingml/2006/main">
              <a:ext uri="{FF2B5EF4-FFF2-40B4-BE49-F238E27FC236}">
                <a16:creationId xmlns:a16="http://schemas.microsoft.com/office/drawing/2014/main" id="{710B1393-E431-452C-B464-FAF1B4C70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2665" y="4817745"/>
            <a:ext cx="278765" cy="2171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00"/>
              <a:t>D</a:t>
            </a: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660ADFD4-1E07-4D75-B5F8-BC473709C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2545" y="6137910"/>
            <a:ext cx="739775" cy="7200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3B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6110994D-AD7C-429B-A8E5-005787628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2545" y="6360160"/>
            <a:ext cx="72009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chemeClr val="bg1"/>
                </a:solidFill>
                <a:latin typeface="Arial Regular"/>
                <a:ea typeface="Arial Regular"/>
                <a:cs typeface="Arial Regular"/>
              </a:rPr>
              <a:t>01</a:t>
            </a:r>
          </a:p>
        </p:txBody>
      </p:sp>
      <p:pic>
        <p:nvPicPr>
          <p:cNvPr id="46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0028ff9a1640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02380" y="315068"/>
            <a:ext cx="2377358" cy="62672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97105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标题 5">
            <a:extLst xmlns:a="http://schemas.openxmlformats.org/drawingml/2006/main">
              <a:ext uri="{FF2B5EF4-FFF2-40B4-BE49-F238E27FC236}">
                <a16:creationId xmlns:a16="http://schemas.microsoft.com/office/drawing/2014/main" id="{46B45230-BC22-436F-B463-88EF4E0361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08710" y="1684020"/>
            <a:ext cx="5210175" cy="91376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800" b="0">
                <a:latin typeface="Microsoft YaHei Bold"/>
                <a:ea typeface="Microsoft YaHei Bold"/>
                <a:cs typeface="Microsoft YaHei Bold"/>
              </a:defRPr>
            </a:lvl1pPr>
          </a:lstStyle>
          <a:p xmlns:a="http://schemas.openxmlformats.org/drawingml/2006/main">
            <a:r>
              <a:rPr sz="3200"/>
              <a:t>Prioritize Core Repair Before Adjacent Expansion</a:t>
            </a:r>
          </a:p>
        </p:txBody>
      </p:sp>
      <p:sp>
        <p:nvSpPr>
          <p:cNvPr id="8" name="副标题 2">
            <a:extLst xmlns:a="http://schemas.openxmlformats.org/drawingml/2006/main">
              <a:ext uri="{FF2B5EF4-FFF2-40B4-BE49-F238E27FC236}">
                <a16:creationId xmlns:a16="http://schemas.microsoft.com/office/drawing/2014/main" id="{9B2F1752-066F-41B6-BAE1-375E34CA062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991995" y="3366770"/>
            <a:ext cx="2114550" cy="1064895"/>
          </a:xfr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rPr sz="1000">
                <a:solidFill>
                  <a:schemeClr val="bg2">
                    <a:lumMod val="25000"/>
                  </a:schemeClr>
                </a:solidFill>
              </a:rPr>
              <a:t>MARKET PENETRATION</a:t>
            </a:r>
          </a:p>
          <a:p xmlns:a="http://schemas.openxmlformats.org/drawingml/2006/main">
            <a:pPr>
              <a:buNone/>
            </a:pPr>
            <a:r>
              <a:rPr sz="1000">
                <a:solidFill>
                  <a:schemeClr val="bg2">
                    <a:lumMod val="25000"/>
                  </a:schemeClr>
                </a:solidFill>
              </a:rPr>
              <a:t>Tesla: repair ownership friction.</a:t>
            </a:r>
          </a:p>
          <a:p xmlns:a="http://schemas.openxmlformats.org/drawingml/2006/main">
            <a:pPr>
              <a:buNone/>
            </a:pPr>
            <a:r>
              <a:rPr sz="1000">
                <a:solidFill>
                  <a:schemeClr val="bg2">
                    <a:lumMod val="25000"/>
                  </a:schemeClr>
                </a:solidFill>
              </a:rPr>
              <a:t>BYD: clarify portfolio roles.</a:t>
            </a:r>
          </a:p>
        </p:txBody>
      </p:sp>
      <p:sp>
        <p:nvSpPr>
          <p:cNvPr id="9" name="标题 3">
            <a:extLst xmlns:a="http://schemas.openxmlformats.org/drawingml/2006/main">
              <a:ext uri="{FF2B5EF4-FFF2-40B4-BE49-F238E27FC236}">
                <a16:creationId xmlns:a16="http://schemas.microsoft.com/office/drawing/2014/main" id="{A6CF4D68-A60C-4542-964C-4B6649788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" y="1398270"/>
            <a:ext cx="328803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rmAutofit fontScale="100000"/>
          </a:bodyPr>
          <a:lstStyle xmlns:a="http://schemas.openxmlformats.org/drawingml/2006/main">
            <a:lvl1pPr>
              <a:buNone/>
              <a:defRPr b="1" u="none" cap="none" spc="0">
                <a:solidFill>
                  <a:schemeClr val="bg1"/>
                </a:solidFill>
                <a:latin typeface="Microsoft YaHei Bold"/>
                <a:ea typeface="Microsoft YaHei Bold"/>
                <a:cs typeface="Microsoft YaHei Bold"/>
              </a:defRPr>
            </a:lvl1pPr>
          </a:lstStyle>
          <a:p xmlns:a="http://schemas.openxmlformats.org/drawingml/2006/main">
            <a:pPr algn="l">
              <a:buNone/>
            </a:pPr>
            <a:r>
              <a:rPr sz="1200">
                <a:solidFill>
                  <a:srgbClr val="65110E"/>
                </a:solidFill>
              </a:rPr>
              <a:t>ANSOFF PORTFOLIO</a:t>
            </a:r>
          </a:p>
        </p:txBody>
      </p:sp>
      <p:sp>
        <p:nvSpPr>
          <p:cNvPr id="19" name="直接连接符 18">
            <a:extLst xmlns:a="http://schemas.openxmlformats.org/drawingml/2006/main">
              <a:ext uri="{FF2B5EF4-FFF2-40B4-BE49-F238E27FC236}">
                <a16:creationId xmlns:a16="http://schemas.microsoft.com/office/drawing/2014/main" id="{1480571E-A24A-46F7-B7FA-5E16838D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210310" y="2863850"/>
            <a:ext cx="1038225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6511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" name="副标题 2">
            <a:extLst xmlns:a="http://schemas.openxmlformats.org/drawingml/2006/main">
              <a:ext uri="{FF2B5EF4-FFF2-40B4-BE49-F238E27FC236}">
                <a16:creationId xmlns:a16="http://schemas.microsoft.com/office/drawing/2014/main" id="{B4BB4257-49DF-4D29-B3C4-3E1EF0142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" y="3280410"/>
            <a:ext cx="579120" cy="5308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 algn="ctr">
              <a:buNone/>
            </a:pPr>
            <a:r>
              <a:rPr sz="2800">
                <a:solidFill>
                  <a:schemeClr val="tx1"/>
                </a:solidFill>
                <a:latin typeface="Arial Bold"/>
                <a:ea typeface="Arial Bold"/>
                <a:cs typeface="Arial Bold"/>
              </a:rPr>
              <a:t>01</a:t>
            </a:r>
          </a:p>
        </p:txBody>
      </p:sp>
      <p:sp>
        <p:nvSpPr>
          <p:cNvPr id="5" name="副标题 2">
            <a:extLst xmlns:a="http://schemas.openxmlformats.org/drawingml/2006/main">
              <a:ext uri="{FF2B5EF4-FFF2-40B4-BE49-F238E27FC236}">
                <a16:creationId xmlns:a16="http://schemas.microsoft.com/office/drawing/2014/main" id="{D01FAC87-9625-494D-8BD8-AD4DEA2E4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2605" y="3280410"/>
            <a:ext cx="579120" cy="5308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 algn="ctr">
              <a:buNone/>
            </a:pPr>
            <a:r>
              <a:rPr sz="2800">
                <a:solidFill>
                  <a:schemeClr val="tx1"/>
                </a:solidFill>
                <a:latin typeface="Arial Bold"/>
                <a:ea typeface="Arial Bold"/>
                <a:cs typeface="Arial Bold"/>
              </a:rPr>
              <a:t>02</a:t>
            </a:r>
          </a:p>
        </p:txBody>
      </p:sp>
      <p:sp>
        <p:nvSpPr>
          <p:cNvPr id="14" name="副标题 2">
            <a:extLst xmlns:a="http://schemas.openxmlformats.org/drawingml/2006/main">
              <a:ext uri="{FF2B5EF4-FFF2-40B4-BE49-F238E27FC236}">
                <a16:creationId xmlns:a16="http://schemas.microsoft.com/office/drawing/2014/main" id="{3E92A799-D179-4B96-BB2C-24527824D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525" y="3366770"/>
            <a:ext cx="2114550" cy="10648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rPr sz="1000">
                <a:solidFill>
                  <a:schemeClr val="bg2">
                    <a:lumMod val="25000"/>
                  </a:schemeClr>
                </a:solidFill>
              </a:rPr>
              <a:t>MARKET DEVELOPMENT</a:t>
            </a:r>
          </a:p>
          <a:p xmlns:a="http://schemas.openxmlformats.org/drawingml/2006/main">
            <a:pPr>
              <a:buNone/>
            </a:pPr>
            <a:r>
              <a:rPr sz="1000">
                <a:solidFill>
                  <a:schemeClr val="bg2">
                    <a:lumMod val="25000"/>
                  </a:schemeClr>
                </a:solidFill>
              </a:rPr>
              <a:t>Tesla: selective access.</a:t>
            </a:r>
          </a:p>
          <a:p xmlns:a="http://schemas.openxmlformats.org/drawingml/2006/main">
            <a:pPr>
              <a:buNone/>
            </a:pPr>
            <a:r>
              <a:rPr sz="1000">
                <a:solidFill>
                  <a:schemeClr val="bg2">
                    <a:lumMod val="25000"/>
                  </a:schemeClr>
                </a:solidFill>
              </a:rPr>
              <a:t>BYD: localized global brand building.</a:t>
            </a:r>
          </a:p>
        </p:txBody>
      </p:sp>
      <p:sp>
        <p:nvSpPr>
          <p:cNvPr id="21" name="副标题 2">
            <a:extLst xmlns:a="http://schemas.openxmlformats.org/drawingml/2006/main">
              <a:ext uri="{FF2B5EF4-FFF2-40B4-BE49-F238E27FC236}">
                <a16:creationId xmlns:a16="http://schemas.microsoft.com/office/drawing/2014/main" id="{6AFDC1E0-143D-41A9-BEF3-48C09A14E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950" y="4631055"/>
            <a:ext cx="2114550" cy="10648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rPr sz="1000">
                <a:solidFill>
                  <a:schemeClr val="bg2">
                    <a:lumMod val="25000"/>
                  </a:schemeClr>
                </a:solidFill>
              </a:rPr>
              <a:t>PRODUCT DEVELOPMENT</a:t>
            </a:r>
          </a:p>
          <a:p xmlns:a="http://schemas.openxmlformats.org/drawingml/2006/main">
            <a:pPr>
              <a:buNone/>
            </a:pPr>
            <a:r>
              <a:rPr sz="1000">
                <a:solidFill>
                  <a:schemeClr val="bg2">
                    <a:lumMod val="25000"/>
                  </a:schemeClr>
                </a:solidFill>
              </a:rPr>
              <a:t>Tesla: new formats + software.</a:t>
            </a:r>
          </a:p>
          <a:p xmlns:a="http://schemas.openxmlformats.org/drawingml/2006/main">
            <a:pPr>
              <a:buNone/>
            </a:pPr>
            <a:r>
              <a:rPr sz="1000">
                <a:solidFill>
                  <a:schemeClr val="bg2">
                    <a:lumMod val="25000"/>
                  </a:schemeClr>
                </a:solidFill>
              </a:rPr>
              <a:t>BYD: intelligence + premium design.</a:t>
            </a:r>
          </a:p>
        </p:txBody>
      </p:sp>
      <p:sp>
        <p:nvSpPr>
          <p:cNvPr id="22" name="副标题 2">
            <a:extLst xmlns:a="http://schemas.openxmlformats.org/drawingml/2006/main">
              <a:ext uri="{FF2B5EF4-FFF2-40B4-BE49-F238E27FC236}">
                <a16:creationId xmlns:a16="http://schemas.microsoft.com/office/drawing/2014/main" id="{51A9D1F5-C85A-4E12-856C-E5232B4BD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" y="4544695"/>
            <a:ext cx="578485" cy="5308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 algn="l">
              <a:buNone/>
            </a:pPr>
            <a:r>
              <a:rPr sz="2800">
                <a:solidFill>
                  <a:schemeClr val="tx1"/>
                </a:solidFill>
                <a:latin typeface="Arial Bold"/>
                <a:ea typeface="Arial Bold"/>
                <a:cs typeface="Arial Bold"/>
              </a:rPr>
              <a:t>03</a:t>
            </a:r>
          </a:p>
        </p:txBody>
      </p:sp>
      <p:sp>
        <p:nvSpPr>
          <p:cNvPr id="2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95C2A269-9A94-40AA-830C-3E7C1389F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560" y="4544695"/>
            <a:ext cx="579755" cy="5308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 algn="ctr">
              <a:buNone/>
            </a:pPr>
            <a:r>
              <a:rPr sz="2800">
                <a:solidFill>
                  <a:schemeClr val="tx1"/>
                </a:solidFill>
                <a:latin typeface="Arial Bold"/>
                <a:ea typeface="Arial Bold"/>
                <a:cs typeface="Arial Bold"/>
              </a:rPr>
              <a:t>04</a:t>
            </a:r>
          </a:p>
        </p:txBody>
      </p:sp>
      <p:sp>
        <p:nvSpPr>
          <p:cNvPr id="24" name="副标题 2">
            <a:extLst xmlns:a="http://schemas.openxmlformats.org/drawingml/2006/main">
              <a:ext uri="{FF2B5EF4-FFF2-40B4-BE49-F238E27FC236}">
                <a16:creationId xmlns:a16="http://schemas.microsoft.com/office/drawing/2014/main" id="{145A34DA-18C1-435F-A9E1-96D818DEE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7480" y="4631055"/>
            <a:ext cx="2114550" cy="10648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rPr sz="1000">
                <a:solidFill>
                  <a:schemeClr val="bg2">
                    <a:lumMod val="25000"/>
                  </a:schemeClr>
                </a:solidFill>
              </a:rPr>
              <a:t>SELECTIVE DIVERSIFICATION</a:t>
            </a:r>
          </a:p>
          <a:p xmlns:a="http://schemas.openxmlformats.org/drawingml/2006/main">
            <a:pPr>
              <a:buNone/>
            </a:pPr>
            <a:r>
              <a:rPr sz="1000">
                <a:solidFill>
                  <a:schemeClr val="bg2">
                    <a:lumMod val="25000"/>
                  </a:schemeClr>
                </a:solidFill>
              </a:rPr>
              <a:t>Tesla: FSD platform.</a:t>
            </a:r>
          </a:p>
          <a:p xmlns:a="http://schemas.openxmlformats.org/drawingml/2006/main">
            <a:pPr>
              <a:buNone/>
            </a:pPr>
            <a:r>
              <a:rPr sz="1000">
                <a:solidFill>
                  <a:schemeClr val="bg2">
                    <a:lumMod val="25000"/>
                  </a:schemeClr>
                </a:solidFill>
              </a:rPr>
              <a:t>BYD: mobility-energy ecosystem.</a:t>
            </a:r>
          </a:p>
        </p:txBody>
      </p:sp>
      <p:pic>
        <p:nvPicPr>
          <p:cNvPr id="27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05886ff4644c45">
            <a:lum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8790" y="12700"/>
            <a:ext cx="3733165" cy="6845300"/>
          </a:xfrm>
          <a:prstGeom xmlns:a="http://schemas.openxmlformats.org/drawingml/2006/main" prst="rect">
            <a:avLst/>
          </a:prstGeom>
        </p:spPr>
      </p:pic>
      <p:sp>
        <p:nvSpPr>
          <p:cNvPr id="34" name="副标题 2">
            <a:extLst xmlns:a="http://schemas.openxmlformats.org/drawingml/2006/main">
              <a:ext uri="{FF2B5EF4-FFF2-40B4-BE49-F238E27FC236}">
                <a16:creationId xmlns:a16="http://schemas.microsoft.com/office/drawing/2014/main" id="{1F59B6D6-D32E-4822-B15C-71274C7C6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537585"/>
            <a:ext cx="278765" cy="2171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00"/>
              <a:t>A</a:t>
            </a:r>
          </a:p>
        </p:txBody>
      </p:sp>
      <p:sp>
        <p:nvSpPr>
          <p:cNvPr id="36" name="副标题 2">
            <a:extLst xmlns:a="http://schemas.openxmlformats.org/drawingml/2006/main">
              <a:ext uri="{FF2B5EF4-FFF2-40B4-BE49-F238E27FC236}">
                <a16:creationId xmlns:a16="http://schemas.microsoft.com/office/drawing/2014/main" id="{FC56AEA3-E3DC-4E6B-96FF-E14E81966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17745"/>
            <a:ext cx="278765" cy="2171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00"/>
              <a:t>C</a:t>
            </a:r>
          </a:p>
        </p:txBody>
      </p:sp>
      <p:sp>
        <p:nvSpPr>
          <p:cNvPr id="37" name="副标题 2">
            <a:extLst xmlns:a="http://schemas.openxmlformats.org/drawingml/2006/main">
              <a:ext uri="{FF2B5EF4-FFF2-40B4-BE49-F238E27FC236}">
                <a16:creationId xmlns:a16="http://schemas.microsoft.com/office/drawing/2014/main" id="{5092E1F1-47D4-4CFC-B5A5-C4BEB886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2665" y="3537585"/>
            <a:ext cx="278765" cy="2171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00"/>
              <a:t>B</a:t>
            </a:r>
          </a:p>
        </p:txBody>
      </p:sp>
      <p:sp>
        <p:nvSpPr>
          <p:cNvPr id="38" name="副标题 2">
            <a:extLst xmlns:a="http://schemas.openxmlformats.org/drawingml/2006/main">
              <a:ext uri="{FF2B5EF4-FFF2-40B4-BE49-F238E27FC236}">
                <a16:creationId xmlns:a16="http://schemas.microsoft.com/office/drawing/2014/main" id="{710B1393-E431-452C-B464-FAF1B4C70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2665" y="4817745"/>
            <a:ext cx="278765" cy="2171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00"/>
              <a:t>D</a:t>
            </a: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660ADFD4-1E07-4D75-B5F8-BC473709C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2545" y="6137910"/>
            <a:ext cx="739775" cy="7200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3B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6110994D-AD7C-429B-A8E5-005787628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2545" y="6360160"/>
            <a:ext cx="72009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chemeClr val="bg1"/>
                </a:solidFill>
                <a:latin typeface="Arial Regular"/>
                <a:ea typeface="Arial Regular"/>
                <a:cs typeface="Arial Regular"/>
              </a:rPr>
              <a:t>02</a:t>
            </a:r>
          </a:p>
        </p:txBody>
      </p:sp>
      <p:pic>
        <p:nvPicPr>
          <p:cNvPr id="46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04c09be2c34d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02380" y="315068"/>
            <a:ext cx="2377358" cy="62672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97105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图片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59c7801c0d45fd"/>
          <a:srcRect xmlns:a="http://schemas.openxmlformats.org/drawingml/2006/main" l="0" t="0" r="321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32265" y="2618740"/>
            <a:ext cx="2990850" cy="2102485"/>
          </a:xfrm>
          <a:prstGeom xmlns:a="http://schemas.openxmlformats.org/drawingml/2006/main" prst="rect">
            <a:avLst/>
          </a:prstGeom>
        </p:spPr>
      </p:pic>
      <p:pic>
        <p:nvPicPr>
          <p:cNvPr id="2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710bb4a1b34f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75265" y="4044950"/>
            <a:ext cx="1817370" cy="676275"/>
          </a:xfrm>
          <a:prstGeom xmlns:a="http://schemas.openxmlformats.org/drawingml/2006/main" prst="rect">
            <a:avLst/>
          </a:prstGeom>
        </p:spPr>
      </p:pic>
      <p:pic>
        <p:nvPicPr>
          <p:cNvPr id="3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0f96b9ce8a49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2052320"/>
            <a:ext cx="2967355" cy="2668905"/>
          </a:xfrm>
          <a:prstGeom xmlns:a="http://schemas.openxmlformats.org/drawingml/2006/main" prst="rect">
            <a:avLst/>
          </a:prstGeom>
        </p:spPr>
      </p:pic>
      <p:pic>
        <p:nvPicPr>
          <p:cNvPr id="4" name="图片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4436f574604ec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20040" y="3883660"/>
            <a:ext cx="3287395" cy="837565"/>
          </a:xfrm>
          <a:prstGeom xmlns:a="http://schemas.openxmlformats.org/drawingml/2006/main" prst="rect">
            <a:avLst/>
          </a:prstGeom>
        </p:spPr>
      </p:pic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DA8A8953-D2AC-48A1-A2C4-E34E8C90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21225"/>
            <a:ext cx="12221845" cy="213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221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0FCAB4BB-D4D6-41D4-ADC9-D8F23B5CD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1240" y="4656455"/>
            <a:ext cx="7590790" cy="178308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59F34A31-DDD4-4F7A-9C37-BA43BC217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015" y="1432560"/>
            <a:ext cx="8650605" cy="480504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u="sng"/>
              <a:t/>
            </a:r>
          </a:p>
        </p:txBody>
      </p:sp>
      <p:sp>
        <p:nvSpPr>
          <p:cNvPr id="5" name="椭圆 4">
            <a:extLst xmlns:a="http://schemas.openxmlformats.org/drawingml/2006/main">
              <a:ext uri="{FF2B5EF4-FFF2-40B4-BE49-F238E27FC236}">
                <a16:creationId xmlns:a16="http://schemas.microsoft.com/office/drawing/2014/main" id="{B377AA44-CA39-4FDB-9AAF-E469738E4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015" y="604520"/>
            <a:ext cx="1704975" cy="1704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单圆角矩形 5">
            <a:extLst xmlns:a="http://schemas.openxmlformats.org/drawingml/2006/main">
              <a:ext uri="{FF2B5EF4-FFF2-40B4-BE49-F238E27FC236}">
                <a16:creationId xmlns:a16="http://schemas.microsoft.com/office/drawing/2014/main" id="{331A50D4-79B2-4E14-B3FD-F43D55B05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128770" y="989330"/>
            <a:ext cx="6646545" cy="1062355"/>
          </a:xfrm>
          <a:prstGeom xmlns:a="http://schemas.openxmlformats.org/drawingml/2006/main" prst="round1Rect">
            <a:avLst>
              <a:gd name="adj" fmla="val 29211"/>
            </a:avLst>
          </a:prstGeom>
          <a:solidFill xmlns:a="http://schemas.openxmlformats.org/drawingml/2006/main">
            <a:srgbClr val="7B221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直角三角形 6">
            <a:extLst xmlns:a="http://schemas.openxmlformats.org/drawingml/2006/main">
              <a:ext uri="{FF2B5EF4-FFF2-40B4-BE49-F238E27FC236}">
                <a16:creationId xmlns:a16="http://schemas.microsoft.com/office/drawing/2014/main" id="{69DA639C-346A-4848-852F-D3830BB52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424795" y="2052955"/>
            <a:ext cx="350520" cy="135255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5B100D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椭圆 7">
            <a:extLst xmlns:a="http://schemas.openxmlformats.org/drawingml/2006/main">
              <a:ext uri="{FF2B5EF4-FFF2-40B4-BE49-F238E27FC236}">
                <a16:creationId xmlns:a16="http://schemas.microsoft.com/office/drawing/2014/main" id="{1078BD0C-051D-47E4-B61C-30782D72A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635" y="739140"/>
            <a:ext cx="1433830" cy="1433830"/>
          </a:xfrm>
          <a:prstGeom xmlns:a="http://schemas.openxmlformats.org/drawingml/2006/main" prst="ellipse">
            <a:avLst/>
          </a:prstGeom>
          <a:blipFill xmlns:a="http://schemas.openxmlformats.org/drawingml/2006/main">
            <a:blip xmlns:r="http://schemas.openxmlformats.org/officeDocument/2006/relationships" r:embed="R98abb82d7f614b36"/>
            <a:stretch>
              <a:fillRect l="0" t="0" r="0" b="0"/>
            </a:stretch>
          </a:blip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F98D74C9-C68F-4122-8BA8-E4F0D9ABA7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55490" y="1126490"/>
            <a:ext cx="7239000" cy="4953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800" b="0">
                <a:latin typeface="Microsoft YaHei Bold"/>
                <a:ea typeface="Microsoft YaHei Bold"/>
                <a:cs typeface="Microsoft YaHei Bold"/>
              </a:defRPr>
            </a:lvl1pPr>
          </a:lstStyle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400">
                <a:solidFill>
                  <a:schemeClr val="bg1"/>
                </a:solidFill>
              </a:rPr>
              <a:t>TESLA EXECUTION BLUEPRINT</a:t>
            </a:r>
          </a:p>
        </p:txBody>
      </p:sp>
      <p:sp>
        <p:nvSpPr>
          <p:cNvPr id="10" name="标题 8">
            <a:extLst xmlns:a="http://schemas.openxmlformats.org/drawingml/2006/main">
              <a:ext uri="{FF2B5EF4-FFF2-40B4-BE49-F238E27FC236}">
                <a16:creationId xmlns:a16="http://schemas.microsoft.com/office/drawing/2014/main" id="{4AFF10D4-4D6E-4C64-B422-AB3DB800E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635" y="1612900"/>
            <a:ext cx="723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800" b="0">
                <a:latin typeface="Microsoft YaHei Bold"/>
                <a:ea typeface="Microsoft YaHei Bold"/>
                <a:cs typeface="Microsoft YaHei Bold"/>
              </a:defRPr>
            </a:lvl1pPr>
          </a:lstStyle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>
                <a:solidFill>
                  <a:schemeClr val="bg1"/>
                </a:solidFill>
              </a:rPr>
              <a:t>Objective: broaden access without making the brand ordinary</a:t>
            </a: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B1FF9C85-C72C-4867-B172-07F52E4C4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2975" y="2371725"/>
            <a:ext cx="8858250" cy="5532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indent="349250">
              <a:lnSpc>
                <a:spcPct val="150000"/>
              </a:lnSpc>
              <a:buNone/>
            </a:pPr>
            <a:r>
              <a:rPr sz="1400"/>
              <a:t>01  OWNERSHIP FLYWHEEL</a:t>
            </a:r>
          </a:p>
          <a:p xmlns:a="http://schemas.openxmlformats.org/drawingml/2006/main">
            <a:pPr indent="349250">
              <a:lnSpc>
                <a:spcPct val="150000"/>
              </a:lnSpc>
              <a:buNone/>
            </a:pPr>
            <a:r>
              <a:t>ACTION  Service standards + repair visibility + proactive care</a:t>
            </a:r>
          </a:p>
          <a:p xmlns:a="http://schemas.openxmlformats.org/drawingml/2006/main">
            <a:pPr indent="349250">
              <a:lnSpc>
                <a:spcPct val="150000"/>
              </a:lnSpc>
              <a:buNone/>
            </a:pPr>
            <a:r>
              <a:rPr sz="1400"/>
              <a:t>EFFECT  Satisfaction → trust → advocacy</a:t>
            </a:r>
          </a:p>
          <a:p xmlns:a="http://schemas.openxmlformats.org/drawingml/2006/main">
            <a:pPr indent="349250">
              <a:lnSpc>
                <a:spcPct val="150000"/>
              </a:lnSpc>
              <a:buNone/>
            </a:pPr>
            <a:r>
              <a:rPr sz="1400"/>
              <a:t>KPIs  Service NPS | repair time | referral rate</a:t>
            </a:r>
          </a:p>
          <a:p xmlns:a="http://schemas.openxmlformats.org/drawingml/2006/main">
            <a:pPr indent="349250">
              <a:lnSpc>
                <a:spcPct val="150000"/>
              </a:lnSpc>
              <a:buNone/>
            </a:pPr>
            <a:r>
              <a:rPr sz="1400"/>
              <a:t>CONTROL  Target high-friction moments; use digital triage</a:t>
            </a:r>
          </a:p>
          <a:p xmlns:a="http://schemas.openxmlformats.org/drawingml/2006/main">
            <a:pPr indent="349250">
              <a:lnSpc>
                <a:spcPct val="150000"/>
              </a:lnSpc>
              <a:buNone/>
            </a:pPr>
            <a:r>
              <a:rPr sz="1400"/>
              <a:t/>
            </a:r>
          </a:p>
          <a:p xmlns:a="http://schemas.openxmlformats.org/drawingml/2006/main">
            <a:pPr indent="349250">
              <a:lnSpc>
                <a:spcPct val="150000"/>
              </a:lnSpc>
              <a:buNone/>
            </a:pPr>
            <a:r>
              <a:rPr sz="1400"/>
              <a:t>02  SELECTIVE ACCESS</a:t>
            </a:r>
          </a:p>
          <a:p xmlns:a="http://schemas.openxmlformats.org/drawingml/2006/main">
            <a:pPr indent="349250">
              <a:lnSpc>
                <a:spcPct val="150000"/>
              </a:lnSpc>
              <a:buNone/>
            </a:pPr>
            <a:r>
              <a:rPr sz="1400"/>
              <a:t>ACTION  Accessible model/trim + lower-tier-city coverage</a:t>
            </a:r>
          </a:p>
          <a:p xmlns:a="http://schemas.openxmlformats.org/drawingml/2006/main">
            <a:pPr indent="349250">
              <a:lnSpc>
                <a:spcPct val="150000"/>
              </a:lnSpc>
              <a:buNone/>
            </a:pPr>
            <a:r>
              <a:rPr sz="1400"/>
              <a:t>EFFECT  Broader salience, protected technology leadership</a:t>
            </a:r>
          </a:p>
          <a:p xmlns:a="http://schemas.openxmlformats.org/drawingml/2006/main">
            <a:pPr indent="349250">
              <a:lnSpc>
                <a:spcPct val="150000"/>
              </a:lnSpc>
              <a:buNone/>
            </a:pPr>
            <a:r>
              <a:rPr sz="1400"/>
              <a:t>KPIs  New-to-brand | consideration | premium perception</a:t>
            </a:r>
          </a:p>
          <a:p xmlns:a="http://schemas.openxmlformats.org/drawingml/2006/main">
            <a:pPr indent="349250">
              <a:lnSpc>
                <a:spcPct val="150000"/>
              </a:lnSpc>
              <a:buNone/>
            </a:pPr>
            <a:r>
              <a:rPr sz="1400"/>
              <a:t>CONTROL  Cost-down via platform efficiency, not de-contenting</a:t>
            </a:r>
          </a:p>
          <a:p xmlns:a="http://schemas.openxmlformats.org/drawingml/2006/main">
            <a:pPr indent="349250">
              <a:lnSpc>
                <a:spcPct val="150000"/>
              </a:lnSpc>
              <a:buNone/>
            </a:pPr>
            <a:r>
              <a:rPr sz="1400"/>
              <a:t/>
            </a:r>
          </a:p>
          <a:p xmlns:a="http://schemas.openxmlformats.org/drawingml/2006/main">
            <a:pPr indent="349250">
              <a:lnSpc>
                <a:spcPct val="150000"/>
              </a:lnSpc>
              <a:buNone/>
            </a:pPr>
            <a:r>
              <a:rPr sz="1400"/>
              <a:t>03  USE-CASE EXPANSION</a:t>
            </a:r>
          </a:p>
          <a:p xmlns:a="http://schemas.openxmlformats.org/drawingml/2006/main">
            <a:pPr indent="349250">
              <a:lnSpc>
                <a:spcPct val="150000"/>
              </a:lnSpc>
              <a:buNone/>
            </a:pPr>
            <a:r>
              <a:rPr sz="1400"/>
              <a:t>ACTION  Compact + MPV/utility formats + software bundles</a:t>
            </a:r>
          </a:p>
          <a:p xmlns:a="http://schemas.openxmlformats.org/drawingml/2006/main">
            <a:pPr indent="349250">
              <a:lnSpc>
                <a:spcPct val="150000"/>
              </a:lnSpc>
              <a:buNone/>
            </a:pPr>
            <a:r>
              <a:rPr sz="1400"/>
              <a:t>EFFECT  More occasions and higher lifetime value</a:t>
            </a:r>
          </a:p>
          <a:p xmlns:a="http://schemas.openxmlformats.org/drawingml/2006/main">
            <a:pPr indent="349250">
              <a:lnSpc>
                <a:spcPct val="150000"/>
              </a:lnSpc>
              <a:buNone/>
            </a:pPr>
            <a:r>
              <a:rPr sz="1400"/>
              <a:t>KPIs  Portfolio mix | software attach | repeat purchase</a:t>
            </a:r>
          </a:p>
          <a:p xmlns:a="http://schemas.openxmlformats.org/drawingml/2006/main">
            <a:pPr indent="349250">
              <a:lnSpc>
                <a:spcPct val="150000"/>
              </a:lnSpc>
              <a:buNone/>
            </a:pPr>
            <a:r>
              <a:rPr sz="1400"/>
              <a:t>CONTROL  Shared platform and one design language</a:t>
            </a:r>
          </a:p>
        </p:txBody>
      </p:sp>
      <p:pic>
        <p:nvPicPr>
          <p:cNvPr id="22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b598bb45b04d18">
            <a:extLst>
              <a:ext uri="{96DAC541-7B7A-43D3-8B79-37D633B846F1}">
                <asvg:svgBlip xmlns:asvg="http://schemas.microsoft.com/office/drawing/2016/SVG/main" r:embed="Rc1b4dda3fd35451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71650" y="605155"/>
            <a:ext cx="1704340" cy="1704340"/>
          </a:xfrm>
          <a:prstGeom xmlns:a="http://schemas.openxmlformats.org/drawingml/2006/main" prst="rect">
            <a:avLst/>
          </a:prstGeom>
        </p:spPr>
      </p:pic>
      <p:pic>
        <p:nvPicPr>
          <p:cNvPr id="23" name="图片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1a90af8c5f44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78946" y="117142"/>
            <a:ext cx="2377358" cy="62672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71238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图片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d3226237444e9a"/>
          <a:srcRect xmlns:a="http://schemas.openxmlformats.org/drawingml/2006/main" l="0" t="0" r="321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32265" y="2618740"/>
            <a:ext cx="2990850" cy="2102485"/>
          </a:xfrm>
          <a:prstGeom xmlns:a="http://schemas.openxmlformats.org/drawingml/2006/main" prst="rect">
            <a:avLst/>
          </a:prstGeom>
        </p:spPr>
      </p:pic>
      <p:pic>
        <p:nvPicPr>
          <p:cNvPr id="2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4b5c8a989a4a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75265" y="4044950"/>
            <a:ext cx="1817370" cy="676275"/>
          </a:xfrm>
          <a:prstGeom xmlns:a="http://schemas.openxmlformats.org/drawingml/2006/main" prst="rect">
            <a:avLst/>
          </a:prstGeom>
        </p:spPr>
      </p:pic>
      <p:pic>
        <p:nvPicPr>
          <p:cNvPr id="3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86ff14953d4c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2052320"/>
            <a:ext cx="2967355" cy="2668905"/>
          </a:xfrm>
          <a:prstGeom xmlns:a="http://schemas.openxmlformats.org/drawingml/2006/main" prst="rect">
            <a:avLst/>
          </a:prstGeom>
        </p:spPr>
      </p:pic>
      <p:pic>
        <p:nvPicPr>
          <p:cNvPr id="4" name="图片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80b624cbab48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20040" y="3883660"/>
            <a:ext cx="3287395" cy="837565"/>
          </a:xfrm>
          <a:prstGeom xmlns:a="http://schemas.openxmlformats.org/drawingml/2006/main" prst="rect">
            <a:avLst/>
          </a:prstGeom>
        </p:spPr>
      </p:pic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DA8A8953-D2AC-48A1-A2C4-E34E8C90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21225"/>
            <a:ext cx="12221845" cy="213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221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0FCAB4BB-D4D6-41D4-ADC9-D8F23B5CD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1240" y="4656455"/>
            <a:ext cx="7590790" cy="178308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59F34A31-DDD4-4F7A-9C37-BA43BC217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015" y="1432560"/>
            <a:ext cx="8650605" cy="480504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u="sng"/>
              <a:t/>
            </a:r>
          </a:p>
        </p:txBody>
      </p:sp>
      <p:sp>
        <p:nvSpPr>
          <p:cNvPr id="5" name="椭圆 4">
            <a:extLst xmlns:a="http://schemas.openxmlformats.org/drawingml/2006/main">
              <a:ext uri="{FF2B5EF4-FFF2-40B4-BE49-F238E27FC236}">
                <a16:creationId xmlns:a16="http://schemas.microsoft.com/office/drawing/2014/main" id="{B377AA44-CA39-4FDB-9AAF-E469738E4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015" y="604520"/>
            <a:ext cx="1704975" cy="1704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单圆角矩形 5">
            <a:extLst xmlns:a="http://schemas.openxmlformats.org/drawingml/2006/main">
              <a:ext uri="{FF2B5EF4-FFF2-40B4-BE49-F238E27FC236}">
                <a16:creationId xmlns:a16="http://schemas.microsoft.com/office/drawing/2014/main" id="{331A50D4-79B2-4E14-B3FD-F43D55B05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128770" y="989330"/>
            <a:ext cx="6646545" cy="1062355"/>
          </a:xfrm>
          <a:prstGeom xmlns:a="http://schemas.openxmlformats.org/drawingml/2006/main" prst="round1Rect">
            <a:avLst>
              <a:gd name="adj" fmla="val 29211"/>
            </a:avLst>
          </a:prstGeom>
          <a:solidFill xmlns:a="http://schemas.openxmlformats.org/drawingml/2006/main">
            <a:srgbClr val="7B221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直角三角形 6">
            <a:extLst xmlns:a="http://schemas.openxmlformats.org/drawingml/2006/main">
              <a:ext uri="{FF2B5EF4-FFF2-40B4-BE49-F238E27FC236}">
                <a16:creationId xmlns:a16="http://schemas.microsoft.com/office/drawing/2014/main" id="{69DA639C-346A-4848-852F-D3830BB52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424795" y="2052955"/>
            <a:ext cx="350520" cy="135255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5B100D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椭圆 7">
            <a:extLst xmlns:a="http://schemas.openxmlformats.org/drawingml/2006/main">
              <a:ext uri="{FF2B5EF4-FFF2-40B4-BE49-F238E27FC236}">
                <a16:creationId xmlns:a16="http://schemas.microsoft.com/office/drawing/2014/main" id="{1078BD0C-051D-47E4-B61C-30782D72A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635" y="739140"/>
            <a:ext cx="1433830" cy="1433830"/>
          </a:xfrm>
          <a:prstGeom xmlns:a="http://schemas.openxmlformats.org/drawingml/2006/main" prst="ellipse">
            <a:avLst/>
          </a:prstGeom>
          <a:blipFill xmlns:a="http://schemas.openxmlformats.org/drawingml/2006/main">
            <a:blip xmlns:r="http://schemas.openxmlformats.org/officeDocument/2006/relationships" r:embed="R4508b52c61944713"/>
            <a:stretch>
              <a:fillRect l="0" t="0" r="0" b="0"/>
            </a:stretch>
          </a:blip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F98D74C9-C68F-4122-8BA8-E4F0D9ABA7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55490" y="1126490"/>
            <a:ext cx="7239000" cy="4953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800" b="0">
                <a:latin typeface="Microsoft YaHei Bold"/>
                <a:ea typeface="Microsoft YaHei Bold"/>
                <a:cs typeface="Microsoft YaHei Bold"/>
              </a:defRPr>
            </a:lvl1pPr>
          </a:lstStyle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400">
                <a:solidFill>
                  <a:schemeClr val="bg1"/>
                </a:solidFill>
              </a:rPr>
              <a:t>BYD EXECUTION BLUEPRINT</a:t>
            </a:r>
          </a:p>
        </p:txBody>
      </p:sp>
      <p:sp>
        <p:nvSpPr>
          <p:cNvPr id="10" name="标题 8">
            <a:extLst xmlns:a="http://schemas.openxmlformats.org/drawingml/2006/main">
              <a:ext uri="{FF2B5EF4-FFF2-40B4-BE49-F238E27FC236}">
                <a16:creationId xmlns:a16="http://schemas.microsoft.com/office/drawing/2014/main" id="{4AFF10D4-4D6E-4C64-B422-AB3DB800E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635" y="1612900"/>
            <a:ext cx="723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800" b="0">
                <a:latin typeface="Microsoft YaHei Bold"/>
                <a:ea typeface="Microsoft YaHei Bold"/>
                <a:cs typeface="Microsoft YaHei Bold"/>
              </a:defRPr>
            </a:lvl1pPr>
          </a:lstStyle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>
                <a:solidFill>
                  <a:schemeClr val="bg1"/>
                </a:solidFill>
              </a:rPr>
              <a:t>Objective: turn industrial strength into premium and global brand meaning</a:t>
            </a: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B1FF9C85-C72C-4867-B172-07F52E4C4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2975" y="2371725"/>
            <a:ext cx="8858250" cy="5623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indent="349250">
              <a:lnSpc>
                <a:spcPct val="150000"/>
              </a:lnSpc>
              <a:buNone/>
            </a:pPr>
            <a:r>
              <a:rPr sz="1400"/>
              <a:t>01  SHORT TERM | 1-2 YEARS</a:t>
            </a:r>
          </a:p>
          <a:p xmlns:a="http://schemas.openxmlformats.org/drawingml/2006/main">
            <a:pPr indent="349250">
              <a:lnSpc>
                <a:spcPct val="150000"/>
              </a:lnSpc>
              <a:buNone/>
            </a:pPr>
            <a:r>
              <a:t>ACTION  Clarify Dynasty/Ocean; define premium-brand ladder; make intelligence visible</a:t>
            </a:r>
          </a:p>
          <a:p xmlns:a="http://schemas.openxmlformats.org/drawingml/2006/main">
            <a:pPr indent="349250">
              <a:lnSpc>
                <a:spcPct val="150000"/>
              </a:lnSpc>
              <a:buNone/>
            </a:pPr>
            <a:r>
              <a:rPr sz="1400"/>
              <a:t>EFFECT  Less confusion; stronger imagery and judgments</a:t>
            </a:r>
          </a:p>
          <a:p xmlns:a="http://schemas.openxmlformats.org/drawingml/2006/main">
            <a:pPr indent="349250">
              <a:lnSpc>
                <a:spcPct val="150000"/>
              </a:lnSpc>
              <a:buNone/>
            </a:pPr>
            <a:r>
              <a:rPr sz="1400"/>
              <a:t>KPIs  Brand confusion | premium consideration | tech association</a:t>
            </a:r>
          </a:p>
          <a:p xmlns:a="http://schemas.openxmlformats.org/drawingml/2006/main">
            <a:pPr indent="349250">
              <a:lnSpc>
                <a:spcPct val="150000"/>
              </a:lnSpc>
              <a:buNone/>
            </a:pPr>
            <a:r>
              <a:rPr sz="1400"/>
              <a:t/>
            </a:r>
          </a:p>
          <a:p xmlns:a="http://schemas.openxmlformats.org/drawingml/2006/main">
            <a:pPr indent="349250">
              <a:lnSpc>
                <a:spcPct val="150000"/>
              </a:lnSpc>
              <a:buNone/>
            </a:pPr>
            <a:r>
              <a:rPr sz="1400"/>
              <a:t>02  MEDIUM TERM | 3-5 YEARS</a:t>
            </a:r>
          </a:p>
          <a:p xmlns:a="http://schemas.openxmlformats.org/drawingml/2006/main">
            <a:pPr indent="349250">
              <a:lnSpc>
                <a:spcPct val="150000"/>
              </a:lnSpc>
              <a:buNone/>
            </a:pPr>
            <a:r>
              <a:rPr sz="1400"/>
              <a:t>ACTION  Localize communication, retail, service, and cultural relevance</a:t>
            </a:r>
          </a:p>
          <a:p xmlns:a="http://schemas.openxmlformats.org/drawingml/2006/main">
            <a:pPr indent="349250">
              <a:lnSpc>
                <a:spcPct val="150000"/>
              </a:lnSpc>
              <a:buNone/>
            </a:pPr>
            <a:r>
              <a:rPr sz="1400"/>
              <a:t>EFFECT  Overseas credibility, feelings, and resonance</a:t>
            </a:r>
          </a:p>
          <a:p xmlns:a="http://schemas.openxmlformats.org/drawingml/2006/main">
            <a:pPr indent="349250">
              <a:lnSpc>
                <a:spcPct val="150000"/>
              </a:lnSpc>
              <a:buNone/>
            </a:pPr>
            <a:r>
              <a:rPr sz="1400"/>
              <a:t>KPIs  Awareness | consideration | service | price realization</a:t>
            </a:r>
          </a:p>
          <a:p xmlns:a="http://schemas.openxmlformats.org/drawingml/2006/main">
            <a:pPr indent="349250">
              <a:lnSpc>
                <a:spcPct val="150000"/>
              </a:lnSpc>
              <a:buNone/>
            </a:pPr>
            <a:r>
              <a:rPr sz="1400"/>
              <a:t/>
            </a:r>
          </a:p>
          <a:p xmlns:a="http://schemas.openxmlformats.org/drawingml/2006/main">
            <a:pPr indent="349250">
              <a:lnSpc>
                <a:spcPct val="150000"/>
              </a:lnSpc>
              <a:buNone/>
            </a:pPr>
            <a:r>
              <a:rPr sz="1400"/>
              <a:t>03  LONG TERM | 5+ YEARS</a:t>
            </a:r>
          </a:p>
          <a:p xmlns:a="http://schemas.openxmlformats.org/drawingml/2006/main">
            <a:pPr indent="349250">
              <a:lnSpc>
                <a:spcPct val="150000"/>
              </a:lnSpc>
              <a:buNone/>
            </a:pPr>
            <a:r>
              <a:rPr sz="1400"/>
              <a:t>ACTION  Evolve from NEV maker to mobility-battery-storage technology company</a:t>
            </a:r>
          </a:p>
          <a:p xmlns:a="http://schemas.openxmlformats.org/drawingml/2006/main">
            <a:pPr indent="349250">
              <a:lnSpc>
                <a:spcPct val="150000"/>
              </a:lnSpc>
              <a:buNone/>
            </a:pPr>
            <a:r>
              <a:rPr sz="1400"/>
              <a:t>EFFECT  Broader, future-facing master-brand purpose</a:t>
            </a:r>
          </a:p>
          <a:p xmlns:a="http://schemas.openxmlformats.org/drawingml/2006/main">
            <a:pPr indent="349250">
              <a:lnSpc>
                <a:spcPct val="150000"/>
              </a:lnSpc>
              <a:buNone/>
            </a:pPr>
            <a:r>
              <a:rPr sz="1400"/>
              <a:t>KPIs  Brand value | non-auto association | ecosystem adoption</a:t>
            </a:r>
          </a:p>
          <a:p xmlns:a="http://schemas.openxmlformats.org/drawingml/2006/main">
            <a:pPr indent="349250">
              <a:lnSpc>
                <a:spcPct val="150000"/>
              </a:lnSpc>
              <a:buNone/>
            </a:pPr>
            <a:r>
              <a:rPr sz="1400"/>
              <a:t/>
            </a:r>
          </a:p>
          <a:p xmlns:a="http://schemas.openxmlformats.org/drawingml/2006/main">
            <a:pPr indent="349250">
              <a:lnSpc>
                <a:spcPct val="150000"/>
              </a:lnSpc>
              <a:buNone/>
            </a:pPr>
            <a:r>
              <a:rPr sz="1400"/>
              <a:t>GUARDRAIL  Upgrade through existing premium marques; no overlapping new brand</a:t>
            </a:r>
          </a:p>
        </p:txBody>
      </p:sp>
      <p:pic>
        <p:nvPicPr>
          <p:cNvPr id="22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69225a58454d7e">
            <a:extLst>
              <a:ext uri="{96DAC541-7B7A-43D3-8B79-37D633B846F1}">
                <asvg:svgBlip xmlns:asvg="http://schemas.microsoft.com/office/drawing/2016/SVG/main" r:embed="Rb6a5ccefc7dd483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71650" y="605155"/>
            <a:ext cx="1704340" cy="1704340"/>
          </a:xfrm>
          <a:prstGeom xmlns:a="http://schemas.openxmlformats.org/drawingml/2006/main" prst="rect">
            <a:avLst/>
          </a:prstGeom>
        </p:spPr>
      </p:pic>
      <p:pic>
        <p:nvPicPr>
          <p:cNvPr id="23" name="图片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1b8be5aa4941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78946" y="117142"/>
            <a:ext cx="2377358" cy="62672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71238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DAD37741-E38A-4BA2-B30C-7F7D3ABCC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750" y="1925955"/>
            <a:ext cx="3155950" cy="4681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1"/>
              <a:t>Breakthrough bets can reshape competition — but only with explicit brand-control gates.</a:t>
            </a:r>
          </a:p>
        </p:txBody>
      </p:sp>
      <p:sp>
        <p:nvSpPr>
          <p:cNvPr id="19" name="直接连接符 18">
            <a:extLst xmlns:a="http://schemas.openxmlformats.org/drawingml/2006/main">
              <a:ext uri="{FF2B5EF4-FFF2-40B4-BE49-F238E27FC236}">
                <a16:creationId xmlns:a16="http://schemas.microsoft.com/office/drawing/2014/main" id="{783072D6-5F33-4038-B672-1488B253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050925" y="4667885"/>
            <a:ext cx="1038225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7B221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20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c91716d52b4eb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1530" y="1115695"/>
            <a:ext cx="525145" cy="487045"/>
          </a:xfrm>
          <a:prstGeom xmlns:a="http://schemas.openxmlformats.org/drawingml/2006/main" prst="rect">
            <a:avLst/>
          </a:prstGeom>
        </p:spPr>
      </p:pic>
      <p:sp>
        <p:nvSpPr>
          <p:cNvPr id="39" name="标题 5">
            <a:extLst xmlns:a="http://schemas.openxmlformats.org/drawingml/2006/main">
              <a:ext uri="{FF2B5EF4-FFF2-40B4-BE49-F238E27FC236}">
                <a16:creationId xmlns:a16="http://schemas.microsoft.com/office/drawing/2014/main" id="{8758BA21-290C-46CE-B76B-D3CC1D898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755" y="4982845"/>
            <a:ext cx="2111375" cy="3536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800" b="0">
                <a:latin typeface="Microsoft YaHei Bold"/>
                <a:ea typeface="Microsoft YaHei Bold"/>
                <a:cs typeface="Microsoft YaHei Bold"/>
              </a:defRPr>
            </a:lvl1pPr>
          </a:lstStyle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600"/>
              <a:t>GOVERNANCE DASHBOARD</a:t>
            </a:r>
          </a:p>
        </p:txBody>
      </p:sp>
      <p:sp>
        <p:nvSpPr>
          <p:cNvPr id="44" name="副标题 2">
            <a:extLst xmlns:a="http://schemas.openxmlformats.org/drawingml/2006/main">
              <a:ext uri="{FF2B5EF4-FFF2-40B4-BE49-F238E27FC236}">
                <a16:creationId xmlns:a16="http://schemas.microsoft.com/office/drawing/2014/main" id="{836BBA17-C206-43ED-83C2-9D8A9DAC3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755" y="5336540"/>
            <a:ext cx="3287395" cy="8013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/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思源黑体 CN Medium"/>
                <a:ea typeface="思源黑体 CN Medium"/>
                <a:cs typeface="思源黑体 CN Medium"/>
              </a:rPr>
              <a:t>Quarterly tracking:</a:t>
            </a:r>
          </a:p>
          <a:p xmlns:a="http://schemas.openxmlformats.org/drawingml/2006/main"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思源黑体 CN Medium"/>
                <a:ea typeface="思源黑体 CN Medium"/>
                <a:cs typeface="思源黑体 CN Medium"/>
              </a:rPr>
              <a:t>Premium perception | consideration | NPS | price realization | cross-brand confusion</a:t>
            </a:r>
          </a:p>
        </p:txBody>
      </p:sp>
      <p:pic>
        <p:nvPicPr>
          <p:cNvPr id="45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32dcf98c5b4550"/>
          <a:srcRect xmlns:a="http://schemas.openxmlformats.org/drawingml/2006/main" l="0" t="0" r="71763" b="283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55185" y="0"/>
            <a:ext cx="4053840" cy="6858000"/>
          </a:xfrm>
          <a:prstGeom xmlns:a="http://schemas.openxmlformats.org/drawingml/2006/main" prst="rect">
            <a:avLst/>
          </a:prstGeom>
        </p:spPr>
      </p:pic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7F0CDA0D-5C91-4072-827B-CA127CD2B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9025" y="4445"/>
            <a:ext cx="139700" cy="6848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110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副标题 2">
            <a:extLst xmlns:a="http://schemas.openxmlformats.org/drawingml/2006/main">
              <a:ext uri="{FF2B5EF4-FFF2-40B4-BE49-F238E27FC236}">
                <a16:creationId xmlns:a16="http://schemas.microsoft.com/office/drawing/2014/main" id="{AD12FF60-E3D3-4605-8E9A-9CC99941D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7510" y="3634740"/>
            <a:ext cx="2438400" cy="22466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/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>
                <a:solidFill>
                  <a:schemeClr val="tx1"/>
                </a:solidFill>
              </a:rPr>
              <a:t>TESLA — FSD PLATFORM</a:t>
            </a:r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t>Bet: license selected FSD modules.</a:t>
            </a:r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>
                <a:solidFill>
                  <a:schemeClr val="tx1"/>
                </a:solidFill>
              </a:rPr>
              <a:t>Upside: reach, recurring revenue, category authority.</a:t>
            </a:r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>
                <a:solidFill>
                  <a:schemeClr val="tx1"/>
                </a:solidFill>
              </a:rPr>
              <a:t>Risk: liability, regulation, weaker exclusivity.</a:t>
            </a:r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>
                <a:solidFill>
                  <a:schemeClr val="tx1"/>
                </a:solidFill>
              </a:rPr>
              <a:t>Gate: safety and brand-control thresholds.</a:t>
            </a:r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>
                <a:solidFill>
                  <a:schemeClr val="tx1"/>
                </a:solidFill>
              </a:rPr>
              <a:t/>
            </a:r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>
                <a:solidFill>
                  <a:schemeClr val="tx1"/>
                </a:solidFill>
              </a:rPr>
              <a:t>BYD — PREMIUM FLAGSHIPS</a:t>
            </a:r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>
                <a:solidFill>
                  <a:schemeClr val="tx1"/>
                </a:solidFill>
              </a:rPr>
              <a:t>Bet: sharpen Yangwang and Fangchengbao.</a:t>
            </a:r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>
                <a:solidFill>
                  <a:schemeClr val="tx1"/>
                </a:solidFill>
              </a:rPr>
              <a:t>Upside: premium proof and technology halo.</a:t>
            </a:r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>
                <a:solidFill>
                  <a:schemeClr val="tx1"/>
                </a:solidFill>
              </a:rPr>
              <a:t>Risk: overlap, cannibalization, fragmented spend.</a:t>
            </a:r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>
                <a:solidFill>
                  <a:schemeClr val="tx1"/>
                </a:solidFill>
              </a:rPr>
              <a:t>Gate: exclusive audience, price, design, and channel.</a:t>
            </a:r>
          </a:p>
        </p:txBody>
      </p:sp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9A5C793F-B82F-4DE5-B1A7-DEA8F6989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2545" y="6360160"/>
            <a:ext cx="72009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chemeClr val="bg1"/>
                </a:solidFill>
                <a:latin typeface="Arial Regular"/>
                <a:ea typeface="Arial Regular"/>
                <a:cs typeface="Arial Regular"/>
              </a:rPr>
              <a:t>05</a:t>
            </a:r>
          </a:p>
        </p:txBody>
      </p:sp>
      <p:pic>
        <p:nvPicPr>
          <p:cNvPr id="49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ece962abd042b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02380" y="315068"/>
            <a:ext cx="2377358" cy="62672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22242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2026-06-09T13:31:41.6510000Z</dcterms:created>
  <dcterms:modified xsi:type="dcterms:W3CDTF">2026-06-09T13:31:41.6510000Z</dcterms:modified>
</coreProperties>
</file>