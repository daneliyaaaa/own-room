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442a47ffb84b2e" /><Relationship Type="http://schemas.openxmlformats.org/officeDocument/2006/relationships/extended-properties" Target="/docProps/app.xml" Id="Rda2f4a2459f24620" /><Relationship Type="http://schemas.openxmlformats.org/officeDocument/2006/relationships/officeDocument" Target="/ppt/presentation.xml" Id="R8458f66f5b794d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db216fd4834d27"/>
  </p:sldMasterIdLst>
  <p:notesMasterIdLst>
    <p:notesMasterId xmlns:r="http://schemas.openxmlformats.org/officeDocument/2006/relationships" r:id="R79b1d9fb757242ac"/>
  </p:notesMasterIdLst>
  <p:sldIdLst>
    <p:sldId xmlns:r="http://schemas.openxmlformats.org/officeDocument/2006/relationships" id="256" r:id="Rf1de95e3da6b4bf3"/>
    <p:sldId xmlns:r="http://schemas.openxmlformats.org/officeDocument/2006/relationships" id="257" r:id="Rc95033df16344adb"/>
    <p:sldId xmlns:r="http://schemas.openxmlformats.org/officeDocument/2006/relationships" id="258" r:id="R0b6840a84a624dd0"/>
    <p:sldId xmlns:r="http://schemas.openxmlformats.org/officeDocument/2006/relationships" id="259" r:id="R4b5883a07b824f49"/>
    <p:sldId xmlns:r="http://schemas.openxmlformats.org/officeDocument/2006/relationships" id="260" r:id="R7cd643dc1bba45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b216fd4834d27" /><Relationship Type="http://schemas.openxmlformats.org/officeDocument/2006/relationships/theme" Target="/ppt/theme/theme1.xml" Id="R6858143f75ab4bb5" /><Relationship Type="http://schemas.openxmlformats.org/officeDocument/2006/relationships/notesMaster" Target="/ppt/notesMasters/notesMaster1.xml" Id="R79b1d9fb757242ac" /><Relationship Type="http://schemas.openxmlformats.org/officeDocument/2006/relationships/presProps" Target="/ppt/presProps.xml" Id="R21e7c6ee0fb64bf6" /><Relationship Type="http://schemas.openxmlformats.org/officeDocument/2006/relationships/viewProps" Target="/ppt/viewProps.xml" Id="R0c83646212f74e57" /><Relationship Type="http://schemas.openxmlformats.org/officeDocument/2006/relationships/tableStyles" Target="/ppt/tableStyles.xml" Id="R54cfa4fdd347400d" /><Relationship Type="http://schemas.openxmlformats.org/officeDocument/2006/relationships/slide" Target="/ppt/slides/slide1.xml" Id="Rf1de95e3da6b4bf3" /><Relationship Type="http://schemas.openxmlformats.org/officeDocument/2006/relationships/slide" Target="/ppt/slides/slide2.xml" Id="Rc95033df16344adb" /><Relationship Type="http://schemas.openxmlformats.org/officeDocument/2006/relationships/slide" Target="/ppt/slides/slide3.xml" Id="R0b6840a84a624dd0" /><Relationship Type="http://schemas.openxmlformats.org/officeDocument/2006/relationships/slide" Target="/ppt/slides/slide4.xml" Id="R4b5883a07b824f49" /><Relationship Type="http://schemas.openxmlformats.org/officeDocument/2006/relationships/slide" Target="/ppt/slides/slide5.xml" Id="R7cd643dc1bba45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df00feff7f04a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5dd25e7426402f" /><Relationship Type="http://schemas.openxmlformats.org/officeDocument/2006/relationships/notesMaster" Target="/ppt/notesMasters/notesMaster1.xml" Id="R3d44b888d95942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fe510168674052" /><Relationship Type="http://schemas.openxmlformats.org/officeDocument/2006/relationships/notesMaster" Target="/ppt/notesMasters/notesMaster1.xml" Id="R91bb7518c20e4a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af302cc2564c6c" /><Relationship Type="http://schemas.openxmlformats.org/officeDocument/2006/relationships/notesMaster" Target="/ppt/notesMasters/notesMaster1.xml" Id="R5603fcdf14b447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17939080ea433d" /><Relationship Type="http://schemas.openxmlformats.org/officeDocument/2006/relationships/notesMaster" Target="/ppt/notesMasters/notesMaster1.xml" Id="R2c68b40cf8e340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3f4f38b0944709" /><Relationship Type="http://schemas.openxmlformats.org/officeDocument/2006/relationships/notesMaster" Target="/ppt/notesMasters/notesMaster1.xml" Id="R58aa76f97a154a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244c0e64940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f2e0154fa41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bfebde9ad45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6ba3cb85e49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cb322ac144ca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ea8128d0d48c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ca7641f364c2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a23e5abf449a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81ae2757d47a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c846bef374d59" /></Relationships>
</file>

<file path=ppt/slideLayouts/slideLayout2.xml><?xml version="1.0" encoding="utf-8"?>
<p:sldLayout xmlns:p="http://schemas.openxmlformats.org/presentationml/2006/main" type="vertTitleAndTx">
  <p:cSld name="竖版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0E80A1F-B41A-4D6E-B917-4D73CC6A8EC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5759" y="365125"/>
            <a:ext cx="262915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5740A28-0D19-4DB3-9FC1-93DD472F1C7B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83" y="365125"/>
            <a:ext cx="7735062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6885116-7615-4133-BAF4-851E00B625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92AD297-EC28-4EAB-A488-488F35BFBFF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02F4C8E-B8FC-43D4-80F4-C9BC043E407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picTx">
  <p:cSld name="图片与标题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58588E1-D102-4E6B-BFC3-93A9E0D67ED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871" y="457200"/>
            <a:ext cx="4165759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DFB0EA1-E034-46BA-8E77-1B0C7C0841D1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698" y="457201"/>
            <a:ext cx="6172808" cy="54038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8474E86-9069-4915-B08A-BDE3AFEABDA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871" y="2057400"/>
            <a:ext cx="4165759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DEA6266-D52D-4BCE-846E-86752E14309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C7D42D8-1828-4EC4-99C8-BA4FF9CA5FD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CF1C948-F6FF-4FFC-BDC2-877940A5B52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955A909-4FE2-495A-9F41-988FF5B148E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FAF9278-7ACC-41FD-A400-95F2018ECCC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6AC12E6-FDDA-4A6F-AE57-1C5AD0848CA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仅标题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36EB061-586A-4052-8C9E-1D0458A7E4D9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B3FFDB1-4D44-4F38-83BC-C8172062D62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AAAE9BF-BDF5-4416-9E66-854D67C581E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452F10C-9449-4840-9E19-F2B013A6906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woTxTwoObj">
  <p:cSld name="比较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C188965-0735-403F-8BCF-C3285C5EF62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871" y="365125"/>
            <a:ext cx="1051663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A20ADBC-F684-42E2-85A8-E9AB6057D52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1186891" y="1778438"/>
            <a:ext cx="4874054" cy="8239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7C11CF6-32FF-4362-839F-BC51CF2E520E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1186891" y="2665379"/>
            <a:ext cx="4874054" cy="35242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8072CA2-73FC-4CA7-B785-D2C16EE71E3C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57554" y="1778438"/>
            <a:ext cx="4898058" cy="8239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A3B0EC1-A961-4C80-A8A3-70ACA02CC634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257554" y="2665379"/>
            <a:ext cx="4898058" cy="35242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D95D0EC-313B-410D-8792-569B1C4EFF3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52BB900-75F9-4AAB-A79F-4007CDA293B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2415214-641D-4F31-A2EF-93178124601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woObj">
  <p:cSld name="两栏内容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662A08-F51A-4FDF-9092-A0E0D91D951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B9BD3C-020A-4987-BCF0-8D580D081792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83" y="1825625"/>
            <a:ext cx="518211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3AE745B-AF8F-4243-BC23-E4299B588303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808" y="1825625"/>
            <a:ext cx="518211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B85943B-32F4-4D57-845D-2BDBE6EB0EB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61D5682-27AA-4FF4-8087-D13F6CD6102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AF0B586-073E-4D13-8717-7337091705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secHead">
  <p:cSld name="节标题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296E83-6C01-47EA-AFC8-33E6817E58A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932" y="1709738"/>
            <a:ext cx="1051663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24E4BE2-1563-4FC7-AED7-BDCE0718890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932" y="4589463"/>
            <a:ext cx="1051663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4674D7C-7AEE-401F-9C53-2EDE0130298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40929B0-AE6D-40F2-9F4D-07A687E676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81A484-25C1-4947-BCFF-11B6ECA698C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obj">
  <p:cSld name="标题和内容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BE87D8C-77DF-4081-B9C9-DF5C625C3FC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72CD6D0-D26A-4FAE-8D08-CAD7BC378CCB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E44E1F-636A-4795-835C-440049C3C62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114D7BD-FA7B-4E4D-BA1F-9FBBBCB3073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0E33B4-BFF2-4729-9240-EFDA3B023E7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内容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973CDAD7-5F86-4D5B-B961-FA363A3AB159}"/>
              </a:ext>
            </a:extLst>
          </p:cNvPr>
          <p:cNvSpPr/>
          <p:nvPr>
            <p:ph idx="0"/>
          </p:nvPr>
        </p:nvSpPr>
        <p:spPr>
          <a:xfrm xmlns:a="http://schemas.openxmlformats.org/drawingml/2006/main">
            <a:off x="838283" y="365125"/>
            <a:ext cx="10516635" cy="58118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532D61E-FBCD-4AB5-8C00-9D62A8DCA98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10A21AB-A649-4D42-9FFD-53F594C3098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5BEA228-5694-4135-A6E6-74B9EC29268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itle">
  <p:cSld name="标题幻灯片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399C6B-2DA1-4926-85DB-2AD3E570FC4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150" y="1122363"/>
            <a:ext cx="91449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71E9658-E51E-473B-AC17-1ED9BA6A6CA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150" y="3602038"/>
            <a:ext cx="91449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B371D7-A9FA-4A19-A031-AD9769750A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9F1504-0767-4812-947C-7CB177F7350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C7CE13-2A8D-4676-8A74-3CCC02042D8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9ccec8a2bd743c1" /><Relationship Type="http://schemas.openxmlformats.org/officeDocument/2006/relationships/slideLayout" Target="/ppt/slideLayouts/slideLayout2.xml" Id="R3bc2d4737a83436e" /><Relationship Type="http://schemas.openxmlformats.org/officeDocument/2006/relationships/slideLayout" Target="/ppt/slideLayouts/slideLayout3.xml" Id="Rf14bad88ee424009" /><Relationship Type="http://schemas.openxmlformats.org/officeDocument/2006/relationships/slideLayout" Target="/ppt/slideLayouts/slideLayout4.xml" Id="R07d69435376f4ce4" /><Relationship Type="http://schemas.openxmlformats.org/officeDocument/2006/relationships/slideLayout" Target="/ppt/slideLayouts/slideLayout5.xml" Id="Re299b7908ea0468d" /><Relationship Type="http://schemas.openxmlformats.org/officeDocument/2006/relationships/slideLayout" Target="/ppt/slideLayouts/slideLayout6.xml" Id="R2823b9af76a448c9" /><Relationship Type="http://schemas.openxmlformats.org/officeDocument/2006/relationships/slideLayout" Target="/ppt/slideLayouts/slideLayout7.xml" Id="R82182661e27c435d" /><Relationship Type="http://schemas.openxmlformats.org/officeDocument/2006/relationships/slideLayout" Target="/ppt/slideLayouts/slideLayout8.xml" Id="Rb1fc6b3810d54f34" /><Relationship Type="http://schemas.openxmlformats.org/officeDocument/2006/relationships/slideLayout" Target="/ppt/slideLayouts/slideLayout9.xml" Id="R8955597cae9c412a" /><Relationship Type="http://schemas.openxmlformats.org/officeDocument/2006/relationships/slideLayout" Target="/ppt/slideLayouts/slideLayout10.xml" Id="Rb16d33673f974730" /><Relationship Type="http://schemas.openxmlformats.org/officeDocument/2006/relationships/slideLayout" Target="/ppt/slideLayouts/slideLayout11.xml" Id="R4ea0fffe82bc4f3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3DA9B81-638A-4123-A234-10EBD18B720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83" y="365125"/>
            <a:ext cx="1051663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D1ADB0-3EE7-4CB1-B9D1-927F31FB0B7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83" y="1825625"/>
            <a:ext cx="1051663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9F0459E-BD6D-49B6-848C-87EB7D0F37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83" y="6356350"/>
            <a:ext cx="274347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BE68AE6-6D59-4A95-9571-7F9EDE80747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998" y="6356350"/>
            <a:ext cx="411520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B39578E-0FD4-4963-8982-C898A7200F1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1448" y="6356350"/>
            <a:ext cx="274347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c2d4737a83436e"/>
    <p:sldLayoutId xmlns:r="http://schemas.openxmlformats.org/officeDocument/2006/relationships" id="2147483650" r:id="Rf14bad88ee424009"/>
    <p:sldLayoutId xmlns:r="http://schemas.openxmlformats.org/officeDocument/2006/relationships" id="2147483651" r:id="R07d69435376f4ce4"/>
    <p:sldLayoutId xmlns:r="http://schemas.openxmlformats.org/officeDocument/2006/relationships" id="2147483652" r:id="Re299b7908ea0468d"/>
    <p:sldLayoutId xmlns:r="http://schemas.openxmlformats.org/officeDocument/2006/relationships" id="2147483653" r:id="R2823b9af76a448c9"/>
    <p:sldLayoutId xmlns:r="http://schemas.openxmlformats.org/officeDocument/2006/relationships" id="2147483654" r:id="R82182661e27c435d"/>
    <p:sldLayoutId xmlns:r="http://schemas.openxmlformats.org/officeDocument/2006/relationships" id="2147483655" r:id="Rb1fc6b3810d54f34"/>
    <p:sldLayoutId xmlns:r="http://schemas.openxmlformats.org/officeDocument/2006/relationships" id="2147483656" r:id="R8955597cae9c412a"/>
    <p:sldLayoutId xmlns:r="http://schemas.openxmlformats.org/officeDocument/2006/relationships" id="2147483657" r:id="Rb16d33673f974730"/>
    <p:sldLayoutId xmlns:r="http://schemas.openxmlformats.org/officeDocument/2006/relationships" id="2147483658" r:id="R4ea0fffe82bc4f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2dc899435c74697" /><Relationship Type="http://schemas.openxmlformats.org/officeDocument/2006/relationships/image" Target="/ppt/media/image.jpeg" Id="Ra7f8af6d03c4444b" /><Relationship Type="http://schemas.openxmlformats.org/officeDocument/2006/relationships/image" Target="/ppt/media/image.png" Id="R5ec7fbc54e3046a7" /><Relationship Type="http://schemas.openxmlformats.org/officeDocument/2006/relationships/notesSlide" Target="/ppt/notesSlides/notesSlide1.xml" Id="R0eeb8042680747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1fe47babc4d406b" /><Relationship Type="http://schemas.openxmlformats.org/officeDocument/2006/relationships/image" Target="/ppt/media/image2.png" Id="R04aa4ba9fe3845e1" /><Relationship Type="http://schemas.openxmlformats.org/officeDocument/2006/relationships/image" Target="/ppt/media/image.png" Id="Rbbb2a62f11b941cb" /><Relationship Type="http://schemas.openxmlformats.org/officeDocument/2006/relationships/notesSlide" Target="/ppt/notesSlides/notesSlide2.xml" Id="Rfc40b48033094b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c7f0a6c747f4834" /><Relationship Type="http://schemas.openxmlformats.org/officeDocument/2006/relationships/image" Target="/ppt/media/image.jpeg" Id="Rb522a21683984427" /><Relationship Type="http://schemas.openxmlformats.org/officeDocument/2006/relationships/image" Target="/ppt/media/image.png" Id="Re5e321feaf7a46ba" /><Relationship Type="http://schemas.openxmlformats.org/officeDocument/2006/relationships/notesSlide" Target="/ppt/notesSlides/notesSlide3.xml" Id="R08cf8f8e56d64d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69aa96b4a8a4ae4" /><Relationship Type="http://schemas.openxmlformats.org/officeDocument/2006/relationships/image" Target="/ppt/media/image2.png" Id="R0baa816e981b4662" /><Relationship Type="http://schemas.openxmlformats.org/officeDocument/2006/relationships/image" Target="/ppt/media/image.png" Id="R978eb374742249da" /><Relationship Type="http://schemas.openxmlformats.org/officeDocument/2006/relationships/notesSlide" Target="/ppt/notesSlides/notesSlide4.xml" Id="R22078bc49af24f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ed9991c02b94ff6" /><Relationship Type="http://schemas.openxmlformats.org/officeDocument/2006/relationships/image" Target="/ppt/media/image2.jpeg" Id="R1d0eba29b12941e0" /><Relationship Type="http://schemas.openxmlformats.org/officeDocument/2006/relationships/image" Target="/ppt/media/image3.png" Id="Re0ef420f22fa494b" /><Relationship Type="http://schemas.openxmlformats.org/officeDocument/2006/relationships/image" Target="/ppt/media/image.png" Id="R7e60b937eaf241ec" /><Relationship Type="http://schemas.openxmlformats.org/officeDocument/2006/relationships/notesSlide" Target="/ppt/notesSlides/notesSlide5.xml" Id="Rff056a75528d45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8af6d03c4444b"/>
          <a:srcRect xmlns:a="http://schemas.openxmlformats.org/drawingml/2006/main" l="0" t="2867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6349"/>
            <a:ext cx="12221845" cy="4916170"/>
          </a:xfrm>
          <a:prstGeom xmlns:a="http://schemas.openxmlformats.org/drawingml/2006/main" prst="rect">
            <a:avLst/>
          </a:prstGeom>
        </p:spPr>
      </p:pic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BE17E828-2A5A-4A6C-862A-30180A3CD8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92250" y="981075"/>
            <a:ext cx="5210175" cy="913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rPr sz="3200">
                <a:solidFill>
                  <a:schemeClr val="bg1"/>
                </a:solidFill>
              </a:rPr>
              <a:t>Two Brands, Two Growth Jobs</a:t>
            </a:r>
          </a:p>
        </p:txBody>
      </p:sp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DA27D45-59ED-416A-9F4B-45291813ED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92250" y="1894840"/>
            <a:ext cx="9618980" cy="74041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>
                <a:solidFill>
                  <a:schemeClr val="bg1"/>
                </a:solidFill>
              </a:rPr>
              <a:t>Tesla must extend premium technology equity; BYD must upgrade and concentrate brand equity.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83066B97-7511-473C-8D3C-FD8136A1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29210" y="1524000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D05BBF8-8637-48C8-986D-7A5337A9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3379470"/>
            <a:ext cx="3244850" cy="2791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3CAFB3B-82E0-4976-B850-8A30A15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90" y="3379470"/>
            <a:ext cx="3244850" cy="2791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542052E-CF6B-4192-8C9F-83AAD532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165" y="3379470"/>
            <a:ext cx="3244850" cy="2791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11725F4-6E57-4D60-B9DD-5D6CB8F3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3379470"/>
            <a:ext cx="324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6427DB6-450A-4F22-B893-2344F8C7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90" y="3379470"/>
            <a:ext cx="324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6B3CC61-4ADC-4EBE-8910-6910872A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165" y="3379470"/>
            <a:ext cx="324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标题 5">
            <a:extLst xmlns:a="http://schemas.openxmlformats.org/drawingml/2006/main">
              <a:ext uri="{FF2B5EF4-FFF2-40B4-BE49-F238E27FC236}">
                <a16:creationId xmlns:a16="http://schemas.microsoft.com/office/drawing/2014/main" id="{6EBD4541-9A67-4A20-A090-C20826D1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" y="3732530"/>
            <a:ext cx="215328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TESLA</a:t>
            </a:r>
          </a:p>
        </p:txBody>
      </p:sp>
      <p:sp>
        <p:nvSpPr>
          <p:cNvPr id="1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ACBFBDD-8B63-4AC1-B3EE-CF32CF56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" y="4589780"/>
            <a:ext cx="2844165" cy="133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Broaden users and use cases while preserving a distinctive technology promise.</a:t>
            </a:r>
          </a:p>
        </p:txBody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12CEBC82-8ACB-4B2F-A988-3F891542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4431030"/>
            <a:ext cx="147193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标题 5">
            <a:extLst xmlns:a="http://schemas.openxmlformats.org/drawingml/2006/main">
              <a:ext uri="{FF2B5EF4-FFF2-40B4-BE49-F238E27FC236}">
                <a16:creationId xmlns:a16="http://schemas.microsoft.com/office/drawing/2014/main" id="{64618E02-E386-4F54-9B59-4F688766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3732530"/>
            <a:ext cx="215328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BYD</a:t>
            </a: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3BC36B86-D231-483F-80DD-20ED0896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90" y="4431030"/>
            <a:ext cx="147193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标题 5">
            <a:extLst xmlns:a="http://schemas.openxmlformats.org/drawingml/2006/main">
              <a:ext uri="{FF2B5EF4-FFF2-40B4-BE49-F238E27FC236}">
                <a16:creationId xmlns:a16="http://schemas.microsoft.com/office/drawing/2014/main" id="{22F086B4-BCED-4FED-BC63-FD314C32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605" y="3732530"/>
            <a:ext cx="215328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GUARDRAIL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286F81C2-9763-4645-AAD0-91936EB5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5" y="4431030"/>
            <a:ext cx="147193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D43B9F7-A834-49FC-BDFB-922F8518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760" y="4589780"/>
            <a:ext cx="2844165" cy="133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Every growth move must reinforce core positioning and avoid brand dilution.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EE68D24C-0E34-4115-B917-E89D6094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01</a:t>
            </a:r>
          </a:p>
        </p:txBody>
      </p:sp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1F0E48D-73E4-46F6-97E0-6823BD43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615" y="4589780"/>
            <a:ext cx="2844165" cy="133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Turn scale and product strength into coherent, higher-level brand meaning.</a:t>
            </a:r>
          </a:p>
        </p:txBody>
      </p:sp>
      <p:pic>
        <p:nvPicPr>
          <p:cNvPr id="5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7fbc54e3046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13020" y="6306967"/>
            <a:ext cx="1911990" cy="50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998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3064CEEE-7C20-4FD8-A7FA-CC8FA94040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8710" y="1684020"/>
            <a:ext cx="5210175" cy="913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rPr sz="3200"/>
              <a:t>Ansoff Reveals an Asymmetric Agenda</a:t>
            </a:r>
          </a:p>
        </p:txBody>
      </p:sp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84D9A0A-2A5F-4032-81A1-3118206482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91995" y="3366770"/>
            <a:ext cx="2114550" cy="1064895"/>
          </a:xfr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MARKET PENETRATION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Tesla: improve ownership.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BYD: clarify brand roles.</a:t>
            </a:r>
          </a:p>
        </p:txBody>
      </p:sp>
      <p:sp>
        <p:nvSpPr>
          <p:cNvPr id="9" name="标题 3">
            <a:extLst xmlns:a="http://schemas.openxmlformats.org/drawingml/2006/main">
              <a:ext uri="{FF2B5EF4-FFF2-40B4-BE49-F238E27FC236}">
                <a16:creationId xmlns:a16="http://schemas.microsoft.com/office/drawing/2014/main" id="{965F57CB-755F-4EBE-A8FC-D888504D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1398270"/>
            <a:ext cx="328803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>
            <a:lvl1pPr>
              <a:buNone/>
              <a:defRPr b="1" u="none" cap="none" spc="0">
                <a:solidFill>
                  <a:schemeClr val="bg1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 algn="l">
              <a:buNone/>
            </a:pPr>
            <a:r>
              <a:rPr sz="1200">
                <a:solidFill>
                  <a:srgbClr val="65110E"/>
                </a:solidFill>
              </a:rPr>
              <a:t>GROWTH LOGIC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FDCF2698-D97B-44AB-A862-4CF2B26C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10310" y="2863850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6511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7B365A4-94AE-40ED-BB62-DE85AF28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5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BC7A940-EB3C-4026-9837-97AB230B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605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BFA78E0-1B00-4F50-AB47-D8E2187B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25" y="3366770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MARKET DEVELOPMENT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Tesla: broaden access.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BYD: build global meaning.</a:t>
            </a:r>
          </a:p>
        </p:txBody>
      </p:sp>
      <p:sp>
        <p:nvSpPr>
          <p:cNvPr id="2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6730840-9452-4203-8096-C0A9E792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PRODUCT DEVELOPMENT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Tesla: add use cases.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BYD: strengthen intelligence.</a:t>
            </a:r>
          </a:p>
        </p:txBody>
      </p:sp>
      <p:sp>
        <p:nvSpPr>
          <p:cNvPr id="2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6764053-E583-4B7C-AFBD-05CB27DF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544695"/>
            <a:ext cx="57848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2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9C3526A-9CF9-403D-9C97-4185FAA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560" y="4544695"/>
            <a:ext cx="57975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2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E268C1D-AED5-4BAA-9D5E-87EE674E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48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SELECTIVE DIVERSIFICATION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Tesla: license FSD.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BYD: become green tech.</a:t>
            </a:r>
          </a:p>
        </p:txBody>
      </p:sp>
      <p:pic>
        <p:nvPicPr>
          <p:cNvPr id="27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a4ba9fe3845e1">
            <a:lum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8790" y="12700"/>
            <a:ext cx="3733165" cy="6845300"/>
          </a:xfrm>
          <a:prstGeom xmlns:a="http://schemas.openxmlformats.org/drawingml/2006/main" prst="rect">
            <a:avLst/>
          </a:prstGeom>
        </p:spPr>
      </p:pic>
      <p:sp>
        <p:nvSpPr>
          <p:cNvPr id="3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8996AB4-363E-4146-B98E-C15A4EEB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A</a:t>
            </a:r>
          </a:p>
        </p:txBody>
      </p:sp>
      <p:sp>
        <p:nvSpPr>
          <p:cNvPr id="36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6EF908C-20B9-4FCA-925F-E7663AD4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C</a:t>
            </a:r>
          </a:p>
        </p:txBody>
      </p:sp>
      <p:sp>
        <p:nvSpPr>
          <p:cNvPr id="3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CF278B5-1517-4642-BC4E-9E48ACE3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B</a:t>
            </a:r>
          </a:p>
        </p:txBody>
      </p:sp>
      <p:sp>
        <p:nvSpPr>
          <p:cNvPr id="3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A868992-186A-42DD-A453-7391A9C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D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A9433F22-C825-4658-BF8B-9F5C2FD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137910"/>
            <a:ext cx="739775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4DC40502-644D-4EF9-BE3A-85510CAF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02</a:t>
            </a:r>
          </a:p>
        </p:txBody>
      </p:sp>
      <p:pic>
        <p:nvPicPr>
          <p:cNvPr id="46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2a62f11b941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380" y="315068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458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2a21683984427"/>
          <a:srcRect xmlns:a="http://schemas.openxmlformats.org/drawingml/2006/main" l="0" t="2867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6349"/>
            <a:ext cx="12221845" cy="4916170"/>
          </a:xfrm>
          <a:prstGeom xmlns:a="http://schemas.openxmlformats.org/drawingml/2006/main" prst="rect">
            <a:avLst/>
          </a:prstGeom>
        </p:spPr>
      </p:pic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BE17E828-2A5A-4A6C-862A-30180A3CD8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92250" y="981075"/>
            <a:ext cx="5210175" cy="913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rPr sz="3200">
                <a:solidFill>
                  <a:schemeClr val="bg1"/>
                </a:solidFill>
              </a:rPr>
              <a:t>Tesla: Broaden Access, Keep the Edge</a:t>
            </a:r>
          </a:p>
        </p:txBody>
      </p:sp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DA27D45-59ED-416A-9F4B-45291813ED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92250" y="1894840"/>
            <a:ext cx="9618980" cy="74041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>
                <a:solidFill>
                  <a:schemeClr val="bg1"/>
                </a:solidFill>
              </a:rPr>
              <a:t>Extend the technology promise without making the brand ordinary.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83066B97-7511-473C-8D3C-FD8136A1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29210" y="1524000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D05BBF8-8637-48C8-986D-7A5337A9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3379470"/>
            <a:ext cx="3244850" cy="2791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3CAFB3B-82E0-4976-B850-8A30A15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90" y="3379470"/>
            <a:ext cx="3244850" cy="2791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542052E-CF6B-4192-8C9F-83AAD532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165" y="3379470"/>
            <a:ext cx="3244850" cy="2791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11725F4-6E57-4D60-B9DD-5D6CB8F3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3379470"/>
            <a:ext cx="324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6427DB6-450A-4F22-B893-2344F8C7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90" y="3379470"/>
            <a:ext cx="324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6B3CC61-4ADC-4EBE-8910-6910872A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165" y="3379470"/>
            <a:ext cx="324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标题 5">
            <a:extLst xmlns:a="http://schemas.openxmlformats.org/drawingml/2006/main">
              <a:ext uri="{FF2B5EF4-FFF2-40B4-BE49-F238E27FC236}">
                <a16:creationId xmlns:a16="http://schemas.microsoft.com/office/drawing/2014/main" id="{6EBD4541-9A67-4A20-A090-C20826D1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" y="3732530"/>
            <a:ext cx="215328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OWNERSHIP</a:t>
            </a:r>
          </a:p>
        </p:txBody>
      </p:sp>
      <p:sp>
        <p:nvSpPr>
          <p:cNvPr id="1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ACBFBDD-8B63-4AC1-B3EE-CF32CF56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" y="4589780"/>
            <a:ext cx="2844165" cy="133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Faster service, transparent repairs, and stronger care can deepen brand resonance.</a:t>
            </a:r>
          </a:p>
        </p:txBody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12CEBC82-8ACB-4B2F-A988-3F891542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4431030"/>
            <a:ext cx="147193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标题 5">
            <a:extLst xmlns:a="http://schemas.openxmlformats.org/drawingml/2006/main">
              <a:ext uri="{FF2B5EF4-FFF2-40B4-BE49-F238E27FC236}">
                <a16:creationId xmlns:a16="http://schemas.microsoft.com/office/drawing/2014/main" id="{64618E02-E386-4F54-9B59-4F688766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3732530"/>
            <a:ext cx="215328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ACCESS</a:t>
            </a: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3BC36B86-D231-483F-80DD-20ED0896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90" y="4431030"/>
            <a:ext cx="147193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标题 5">
            <a:extLst xmlns:a="http://schemas.openxmlformats.org/drawingml/2006/main">
              <a:ext uri="{FF2B5EF4-FFF2-40B4-BE49-F238E27FC236}">
                <a16:creationId xmlns:a16="http://schemas.microsoft.com/office/drawing/2014/main" id="{22F086B4-BCED-4FED-BC63-FD314C32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605" y="3732530"/>
            <a:ext cx="215328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USE CASES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286F81C2-9763-4645-AAD0-91936EB5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5" y="4431030"/>
            <a:ext cx="147193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D43B9F7-A834-49FC-BDFB-922F8518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760" y="4589780"/>
            <a:ext cx="2844165" cy="133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Add smaller vehicles, MPVs, and utility products to reduce dependence on a narrow line-up.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EE68D24C-0E34-4115-B917-E89D6094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03</a:t>
            </a:r>
          </a:p>
        </p:txBody>
      </p:sp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1F0E48D-73E4-46F6-97E0-6823BD43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615" y="4589780"/>
            <a:ext cx="2844165" cy="133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Enter lower-tier cities and a more accessible price band through efficiency, not weaker value.</a:t>
            </a:r>
          </a:p>
        </p:txBody>
      </p:sp>
      <p:pic>
        <p:nvPicPr>
          <p:cNvPr id="5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321feaf7a46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13020" y="6306967"/>
            <a:ext cx="1911990" cy="50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998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3064CEEE-7C20-4FD8-A7FA-CC8FA94040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8710" y="1684020"/>
            <a:ext cx="5210175" cy="913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rPr sz="3200"/>
              <a:t>BYD Must Sequence Brand Upgrading</a:t>
            </a:r>
          </a:p>
        </p:txBody>
      </p:sp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84D9A0A-2A5F-4032-81A1-3118206482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91995" y="3366770"/>
            <a:ext cx="2114550" cy="1064895"/>
          </a:xfr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SHORT TERM | 1-2 YEARS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Clarify portfolio roles and make intelligent technology more visible.</a:t>
            </a:r>
          </a:p>
        </p:txBody>
      </p:sp>
      <p:sp>
        <p:nvSpPr>
          <p:cNvPr id="9" name="标题 3">
            <a:extLst xmlns:a="http://schemas.openxmlformats.org/drawingml/2006/main">
              <a:ext uri="{FF2B5EF4-FFF2-40B4-BE49-F238E27FC236}">
                <a16:creationId xmlns:a16="http://schemas.microsoft.com/office/drawing/2014/main" id="{965F57CB-755F-4EBE-A8FC-D888504D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1398270"/>
            <a:ext cx="328803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>
            <a:lvl1pPr>
              <a:buNone/>
              <a:defRPr b="1" u="none" cap="none" spc="0">
                <a:solidFill>
                  <a:schemeClr val="bg1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 algn="l">
              <a:buNone/>
            </a:pPr>
            <a:r>
              <a:rPr sz="1200">
                <a:solidFill>
                  <a:srgbClr val="65110E"/>
                </a:solidFill>
              </a:rPr>
              <a:t>PHASED ROADMAP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FDCF2698-D97B-44AB-A862-4CF2B26C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10310" y="2863850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6511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7B365A4-94AE-40ED-BB62-DE85AF28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5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BC7A940-EB3C-4026-9837-97AB230B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605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BFA78E0-1B00-4F50-AB47-D8E2187B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25" y="3366770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MEDIUM TERM | 3-5 YEARS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Move from product exports to localized global brand building.</a:t>
            </a:r>
          </a:p>
        </p:txBody>
      </p:sp>
      <p:sp>
        <p:nvSpPr>
          <p:cNvPr id="2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6730840-9452-4203-8096-C0A9E792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LONG TERM | 5+ YEARS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Evolve from NEV maker to a broader green-technology company.</a:t>
            </a:r>
          </a:p>
        </p:txBody>
      </p:sp>
      <p:sp>
        <p:nvSpPr>
          <p:cNvPr id="2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6764053-E583-4B7C-AFBD-05CB27DF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544695"/>
            <a:ext cx="57848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2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9C3526A-9CF9-403D-9C97-4185FAA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560" y="4544695"/>
            <a:ext cx="57975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2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E268C1D-AED5-4BAA-9D5E-87EE674E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48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ARCHITECTURE RULE</a:t>
            </a:r>
          </a:p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Use existing premium marques for upward movement; avoid another overlapping brand.</a:t>
            </a:r>
          </a:p>
        </p:txBody>
      </p:sp>
      <p:pic>
        <p:nvPicPr>
          <p:cNvPr id="27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a816e981b4662">
            <a:lum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8790" y="12700"/>
            <a:ext cx="3733165" cy="6845300"/>
          </a:xfrm>
          <a:prstGeom xmlns:a="http://schemas.openxmlformats.org/drawingml/2006/main" prst="rect">
            <a:avLst/>
          </a:prstGeom>
        </p:spPr>
      </p:pic>
      <p:sp>
        <p:nvSpPr>
          <p:cNvPr id="3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8996AB4-363E-4146-B98E-C15A4EEB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A</a:t>
            </a:r>
          </a:p>
        </p:txBody>
      </p:sp>
      <p:sp>
        <p:nvSpPr>
          <p:cNvPr id="36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6EF908C-20B9-4FCA-925F-E7663AD4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C</a:t>
            </a:r>
          </a:p>
        </p:txBody>
      </p:sp>
      <p:sp>
        <p:nvSpPr>
          <p:cNvPr id="3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CF278B5-1517-4642-BC4E-9E48ACE3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B</a:t>
            </a:r>
          </a:p>
        </p:txBody>
      </p:sp>
      <p:sp>
        <p:nvSpPr>
          <p:cNvPr id="3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A868992-186A-42DD-A453-7391A9C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D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A9433F22-C825-4658-BF8B-9F5C2FD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137910"/>
            <a:ext cx="739775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4DC40502-644D-4EF9-BE3A-85510CAF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04</a:t>
            </a:r>
          </a:p>
        </p:txBody>
      </p:sp>
      <p:pic>
        <p:nvPicPr>
          <p:cNvPr id="46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eb374742249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380" y="315068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458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eba29b12941e0"/>
          <a:srcRect xmlns:a="http://schemas.openxmlformats.org/drawingml/2006/main" l="0" t="32516" r="0" b="20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415" y="-6350"/>
            <a:ext cx="12213590" cy="326644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7503A04-3B70-4C49-874C-7E3F9D7E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5" y="1342390"/>
            <a:ext cx="101219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905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A6F15B1-8686-42B7-BBC1-1601D0CB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5" y="1342390"/>
            <a:ext cx="101219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F23A2C1D-5B44-4904-B2A6-F086827580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14805" y="1955165"/>
            <a:ext cx="5382895" cy="5715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t>Growth Needs Brand Discipline</a:t>
            </a:r>
          </a:p>
        </p:txBody>
      </p:sp>
      <p:pic>
        <p:nvPicPr>
          <p:cNvPr id="7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f420f22fa49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95030" y="3051810"/>
            <a:ext cx="2329815" cy="2329815"/>
          </a:xfrm>
          <a:prstGeom xmlns:a="http://schemas.openxmlformats.org/drawingml/2006/main" prst="rect">
            <a:avLst/>
          </a:prstGeom>
        </p:spPr>
      </p:pic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8BB1F37-E15D-4D84-8E92-F6F9A7591A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14805" y="2724150"/>
            <a:ext cx="6562090" cy="2425065"/>
          </a:xfrm>
        </p:spPr>
        <p:txBody>
          <a:bodyPr xmlns:a="http://schemas.openxmlformats.org/drawingml/2006/main">
            <a:normAutofit fontScale="75822"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>
                <a:solidFill>
                  <a:schemeClr val="tx1"/>
                </a:solidFill>
              </a:rPr>
              <a:t>TESLA — License selected FSD capabilities and become an intelligent-mobility platform. Key risks: liability, regulation, and weaker exclusivity.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>
                <a:solidFill>
                  <a:schemeClr val="tx1"/>
                </a:solidFill>
              </a:rPr>
              <a:t>BYD — Use Yangwang and Fangchengbao as intelligent-premium flagships. Key risks: cannibalization, overlap, and fragmented investment.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>
                <a:solidFill>
                  <a:schemeClr val="tx1"/>
                </a:solidFill>
              </a:rPr>
              <a:t>RULE — Growth must reinforce core brand meaning.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61B495E5-BAAE-4F3C-B8EA-1ADBFF3C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05</a:t>
            </a:r>
          </a:p>
        </p:txBody>
      </p:sp>
      <p:pic>
        <p:nvPicPr>
          <p:cNvPr id="46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0b937eaf241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7448" y="6238545"/>
            <a:ext cx="2091077" cy="5512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0050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2026-06-09T13:17:05.9770000Z</dcterms:created>
  <dcterms:modified xsi:type="dcterms:W3CDTF">2026-06-09T13:17:05.9770000Z</dcterms:modified>
</coreProperties>
</file>